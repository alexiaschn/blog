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mpg4" ContentType="video/mp4"/>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7" Type="http://schemas.openxmlformats.org/officeDocument/2006/relationships/viewProps" Target="viewProps.xml" /><Relationship Id="rId36" Type="http://schemas.openxmlformats.org/officeDocument/2006/relationships/presProps" Target="presProps.xml" /><Relationship Id="rId1" Type="http://schemas.openxmlformats.org/officeDocument/2006/relationships/slideMaster" Target="slideMasters/slideMaster1.xml" /><Relationship Id="rId39" Type="http://schemas.openxmlformats.org/officeDocument/2006/relationships/tableStyles" Target="tableStyles.xml" /><Relationship Id="rId3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ieml.intlekt.io/" TargetMode="External" /><Relationship Id="rId5" Type="http://schemas.openxmlformats.org/officeDocument/2006/relationships/image" Target="../media/image6.png" /><Relationship Id="rId4" Type="http://schemas.openxmlformats.org/officeDocument/2006/relationships/image" Target="../media/image5.png" /><Relationship Id="rId2" Type="http://schemas.openxmlformats.org/officeDocument/2006/relationships/image" Target="../media/image4.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mpg4"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215/2834703X-12095982" TargetMode="External" /><Relationship Id="rId3" Type="http://schemas.openxmlformats.org/officeDocument/2006/relationships/hyperlink" Target="https://doi.org/10.1080/014492998119526" TargetMode="External" /><Relationship Id="rId4" Type="http://schemas.openxmlformats.org/officeDocument/2006/relationships/hyperlink" Target="https://doi.org/10.48550/ARXIV.2310.17793" TargetMode="External" /><Relationship Id="rId5" Type="http://schemas.openxmlformats.org/officeDocument/2006/relationships/hyperlink" Target="https://doi.org/10.1177/26339137231207634" TargetMode="External" /><Relationship Id="rId6" Type="http://schemas.openxmlformats.org/officeDocument/2006/relationships/hyperlink" Target="https://doi.org/10.1016/j.obhdp.2018.12.005" TargetMode="External" /><Relationship Id="rId7" Type="http://schemas.openxmlformats.org/officeDocument/2006/relationships/hyperlink" Target="https://doi.org/10.16995/dscn.265" TargetMode="External" /><Relationship Id="rId8" Type="http://schemas.openxmlformats.org/officeDocument/2006/relationships/hyperlink" Target="https://www.ncbi.nlm.nih.gov/pubmed/5634379" TargetMode="External" /><Relationship Id="rId9" Type="http://schemas.openxmlformats.org/officeDocument/2006/relationships/hyperlink" Target="https://doi.org/10.1109/TVCG.2021.3114820" TargetMode="External" /><Relationship Id="rId10" Type="http://schemas.openxmlformats.org/officeDocument/2006/relationships/hyperlink" Target="https://doi.org/10.1073/pnas.2012208118" TargetMode="External" /><Relationship Id="rId11" Type="http://schemas.openxmlformats.org/officeDocument/2006/relationships/hyperlink" Target="https://doi.org/10.1080/15424065.2025.2546052" TargetMode="External" /><Relationship Id="rId12" Type="http://schemas.openxmlformats.org/officeDocument/2006/relationships/hyperlink" Target="https://doi.org/10.1145/3491102.3501905" TargetMode="External" /><Relationship Id="rId13" Type="http://schemas.openxmlformats.org/officeDocument/2006/relationships/hyperlink" Target="https://doi.org/10.4000/15icj" TargetMode="External" /><Relationship Id="rId14" Type="http://schemas.openxmlformats.org/officeDocument/2006/relationships/hyperlink" Target="https://doi.org/10.1525/rep.2014.127.1.64" TargetMode="External" /><Relationship Id="rId15" Type="http://schemas.openxmlformats.org/officeDocument/2006/relationships/hyperlink" Target="https://doi.org/10.1073/pnas.2117488119" TargetMode="External" /><Relationship Id="rId16" Type="http://schemas.openxmlformats.org/officeDocument/2006/relationships/hyperlink" Target="https://doi.org/10.1038/s41598-023-42384-8" TargetMode="External" /></Relationships>
</file>

<file path=ppt/slides/_rels/slide2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DH2026 - Reclaiming Epistemic Agency in AI-Assisted Research: A Recommender System That Reveals, Rather Than Hides, IR Logic</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Alexia Schneider</a:t>
            </a:r>
            <a:br/>
            <a:r>
              <a:rPr/>
              <a:t>Marcello Vitali-Rosati</a:t>
            </a:r>
            <a:br/>
            <a:r>
              <a:rPr/>
              <a:t>Pierre Levy</a:t>
            </a:r>
          </a:p>
        </p:txBody>
      </p:sp>
      <p:sp>
        <p:nvSpPr>
          <p:cNvPr id="4" name="Date Placeholder 3"/>
          <p:cNvSpPr>
            <a:spLocks noGrp="1"/>
          </p:cNvSpPr>
          <p:nvPr>
            <p:ph idx="10" sz="half" type="dt"/>
          </p:nvPr>
        </p:nvSpPr>
        <p:spPr/>
        <p:txBody>
          <a:bodyPr/>
          <a:lstStyle/>
          <a:p>
            <a:pPr lvl="0" indent="0" marL="0">
              <a:buNone/>
            </a:pPr>
            <a:r>
              <a:rPr/>
              <a:t>2026-07-30</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dh2026.png" id="0" name="Picture 1"/>
          <p:cNvPicPr>
            <a:picLocks noGrp="1" noChangeAspect="1"/>
          </p:cNvPicPr>
          <p:nvPr/>
        </p:nvPicPr>
        <p:blipFill>
          <a:blip r:embed="rId2"/>
          <a:stretch>
            <a:fillRect/>
          </a:stretch>
        </p:blipFill>
        <p:spPr bwMode="auto">
          <a:xfrm>
            <a:off x="457200" y="2006600"/>
            <a:ext cx="8229600" cy="17780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Presentation outline</a:t>
            </a:r>
          </a:p>
        </p:txBody>
      </p:sp>
      <p:sp>
        <p:nvSpPr>
          <p:cNvPr id="3" name="Content Placeholder 2"/>
          <p:cNvSpPr>
            <a:spLocks noGrp="1"/>
          </p:cNvSpPr>
          <p:nvPr>
            <p:ph idx="1"/>
          </p:nvPr>
        </p:nvSpPr>
        <p:spPr/>
        <p:txBody>
          <a:bodyPr/>
          <a:lstStyle/>
          <a:p>
            <a:pPr lvl="0"/>
            <a:r>
              <a:rPr/>
              <a:t>Introduction</a:t>
            </a:r>
            <a:br/>
          </a:p>
          <a:p>
            <a:pPr lvl="0"/>
            <a:r>
              <a:rPr/>
              <a:t>Brief SOTA</a:t>
            </a:r>
          </a:p>
          <a:p>
            <a:pPr lvl="0"/>
            <a:r>
              <a:rPr/>
              <a:t>Demonstration</a:t>
            </a:r>
          </a:p>
          <a:p>
            <a:pPr lvl="0"/>
            <a:r>
              <a:rPr/>
              <a:t>Evaluation</a:t>
            </a:r>
            <a:br/>
          </a:p>
          <a:p>
            <a:pPr lvl="0"/>
            <a:r>
              <a:rPr/>
              <a:t>Conclusion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a:t>
            </a:r>
          </a:p>
        </p:txBody>
      </p:sp>
      <p:sp>
        <p:nvSpPr>
          <p:cNvPr id="3" name="Content Placeholder 2"/>
          <p:cNvSpPr>
            <a:spLocks noGrp="1"/>
          </p:cNvSpPr>
          <p:nvPr>
            <p:ph idx="1"/>
          </p:nvPr>
        </p:nvSpPr>
        <p:spPr/>
        <p:txBody>
          <a:bodyPr/>
          <a:lstStyle/>
          <a:p>
            <a:pPr lvl="0" indent="0" marL="0">
              <a:buNone/>
            </a:pPr>
            <a:r>
              <a:rPr b="1"/>
              <a:t>Larger context of the research:</a:t>
            </a:r>
            <a:r>
              <a:rPr/>
              <a:t> Scientific documentary research (esp. for SSH researchers)</a:t>
            </a:r>
          </a:p>
          <a:p>
            <a:pPr lvl="0" indent="0" marL="0">
              <a:buNone/>
            </a:pPr>
            <a:r>
              <a:rPr/>
              <a:t>Recommendation systems have changed: from algorithms that extracted “you might also like” suggestions alongside search engine results to tools that support natural language queries and provide full reports.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isidore_recommandations.png" id="0" name="Picture 1"/>
          <p:cNvPicPr>
            <a:picLocks noGrp="1" noChangeAspect="1"/>
          </p:cNvPicPr>
          <p:nvPr/>
        </p:nvPicPr>
        <p:blipFill>
          <a:blip r:embed="rId2"/>
          <a:stretch>
            <a:fillRect/>
          </a:stretch>
        </p:blipFill>
        <p:spPr bwMode="auto">
          <a:xfrm>
            <a:off x="2844800" y="1193800"/>
            <a:ext cx="3467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Screenshot of Isidore and standard suggested article functions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consensusai.png" id="0" name="Picture 1"/>
          <p:cNvPicPr>
            <a:picLocks noGrp="1" noChangeAspect="1"/>
          </p:cNvPicPr>
          <p:nvPr/>
        </p:nvPicPr>
        <p:blipFill>
          <a:blip r:embed="rId2"/>
          <a:stretch>
            <a:fillRect/>
          </a:stretch>
        </p:blipFill>
        <p:spPr bwMode="auto">
          <a:xfrm>
            <a:off x="1066800" y="1193800"/>
            <a:ext cx="7010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Screenshot of Consensus.app. Support for natural language queries, combining all research steps (retrieval, ranking, synthesis)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Problem Statement</a:t>
            </a:r>
          </a:p>
        </p:txBody>
      </p:sp>
      <p:sp>
        <p:nvSpPr>
          <p:cNvPr id="3" name="Content Placeholder 2"/>
          <p:cNvSpPr>
            <a:spLocks noGrp="1"/>
          </p:cNvSpPr>
          <p:nvPr>
            <p:ph idx="1"/>
          </p:nvPr>
        </p:nvSpPr>
        <p:spPr/>
        <p:txBody>
          <a:bodyPr/>
          <a:lstStyle/>
          <a:p>
            <a:pPr lvl="0" indent="0" marL="0">
              <a:buNone/>
            </a:pPr>
            <a:r>
              <a:rPr/>
              <a:t>With the current adoption of these “AI research assistants” we are seeing a change in research practices. With it comes certain aspects that we have still to grapple with:</a:t>
            </a:r>
          </a:p>
          <a:p>
            <a:pPr lvl="0"/>
            <a:r>
              <a:rPr/>
              <a:t>A focus on ‘findability’ i.e. finding what we already know we know as opposed to ‘serendipity’: finding what we didn’t know -&gt; risk of increasing confirmation bias (Underwood 2014) with natural language querying.</a:t>
            </a:r>
          </a:p>
          <a:p>
            <a:pPr lvl="0"/>
            <a:r>
              <a:rPr/>
              <a:t>Blurring of different cognitive tasks: search and analysis (Finn et al. 2026; DeRewal 2025).</a:t>
            </a:r>
          </a:p>
          <a:p>
            <a:pPr lvl="0"/>
            <a:r>
              <a:rPr/>
              <a:t>Still complex evaluation of an opaque and quickly-changing tools: opacity of ranking, filtering, and synthesis (when applicable) (Archambault and Rincón 2024; Patterson et al. 2025; Tay 2025).</a:t>
            </a:r>
          </a:p>
          <a:p>
            <a:pPr lvl="0"/>
            <a:r>
              <a:rPr/>
              <a:t>Opacity of the systems themselves: citation concentration (Matthew effect (Merton 1968)) with potential reduction of the epistemic space for discovery (Nielsen and Andersen 2021; Varga 2022).</a:t>
            </a:r>
          </a:p>
          <a:p>
            <a:pPr lvl="0"/>
            <a:r>
              <a:rPr/>
              <a:t>Incentives to maintain authoritative tools and rely on long documented persuasiveness of algorithms and computer outputs (Dijkstra, Liebrand, and Timminga 1998; Logg, Minson, and Moore 2019; Vicente and Matute 2023).</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Research Question</a:t>
            </a:r>
          </a:p>
        </p:txBody>
      </p:sp>
      <p:sp>
        <p:nvSpPr>
          <p:cNvPr id="3" name="Content Placeholder 2"/>
          <p:cNvSpPr>
            <a:spLocks noGrp="1"/>
          </p:cNvSpPr>
          <p:nvPr>
            <p:ph idx="1"/>
          </p:nvPr>
        </p:nvSpPr>
        <p:spPr/>
        <p:txBody>
          <a:bodyPr/>
          <a:lstStyle/>
          <a:p>
            <a:pPr lvl="0" indent="0" marL="0">
              <a:buNone/>
            </a:pPr>
            <a:r>
              <a:rPr/>
              <a:t>How can we design explainable systems situated at the center of an environment that fosters critical exploration and enables intellectual engagement with the algorithm?</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Examples of Alternative Recommendation Systems</a:t>
            </a:r>
          </a:p>
        </p:txBody>
      </p:sp>
      <p:sp>
        <p:nvSpPr>
          <p:cNvPr id="3" name="Content Placeholder 2"/>
          <p:cNvSpPr>
            <a:spLocks noGrp="1"/>
          </p:cNvSpPr>
          <p:nvPr>
            <p:ph idx="1"/>
          </p:nvPr>
        </p:nvSpPr>
        <p:spPr/>
        <p:txBody>
          <a:bodyPr/>
          <a:lstStyle/>
          <a:p>
            <a:pPr lvl="0"/>
            <a:r>
              <a:rPr>
                <a:latin typeface="Courier"/>
              </a:rPr>
              <a:t>Bridger</a:t>
            </a:r>
            <a:r>
              <a:rPr/>
              <a:t> by Portenoy et al. (2022) exposes researchers to authors outside their usual intellectual networks to promote disciplinary cross-pollination.</a:t>
            </a:r>
          </a:p>
          <a:p>
            <a:pPr lvl="0"/>
            <a:r>
              <a:rPr>
                <a:latin typeface="Courier"/>
              </a:rPr>
              <a:t>VITALITY</a:t>
            </a:r>
            <a:r>
              <a:rPr/>
              <a:t> by Narechania et al. (2022) proposes a literature review approach based on visualization of word embedding space from a seed article.</a:t>
            </a:r>
          </a:p>
          <a:p>
            <a:pPr lvl="0"/>
            <a:r>
              <a:rPr>
                <a:latin typeface="Courier"/>
              </a:rPr>
              <a:t>STAK</a:t>
            </a:r>
            <a:r>
              <a:rPr/>
              <a:t> by Martin, Greenspan, and Quan-Haase (2017) was inspired by the material affordances of physical libraries, attempting to recreate spatialized navigation environments.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IEML</a:t>
            </a:r>
          </a:p>
        </p:txBody>
      </p:sp>
      <p:sp>
        <p:nvSpPr>
          <p:cNvPr id="4" name="Text Placeholder 3"/>
          <p:cNvSpPr>
            <a:spLocks noGrp="1"/>
          </p:cNvSpPr>
          <p:nvPr>
            <p:ph idx="2" sz="half" type="body"/>
          </p:nvPr>
        </p:nvSpPr>
        <p:spPr/>
        <p:txBody>
          <a:bodyPr/>
          <a:lstStyle/>
          <a:p>
            <a:pPr lvl="0" indent="0" marL="0">
              <a:buNone/>
            </a:pPr>
            <a:r>
              <a:rPr/>
              <a:t>Information Economy MetaLanguage (IEML) (Lévy 2023) != YAML</a:t>
            </a:r>
          </a:p>
          <a:p>
            <a:pPr lvl="0" indent="0" marL="0">
              <a:spcBef>
                <a:spcPts val="3000"/>
              </a:spcBef>
              <a:buNone/>
            </a:pPr>
            <a:r>
              <a:rPr b="1"/>
              <a:t>Sentence or higher level of conceptualisation</a:t>
            </a:r>
          </a:p>
        </p:txBody>
      </p:sp>
      <p:graphicFrame>
        <p:nvGraphicFramePr>
          <p:cNvPr id="6" name="Content Placeholder 5"/>
          <p:cNvGraphicFramePr>
            <a:graphicFrameLocks noGrp="1"/>
          </p:cNvGraphicFramePr>
          <p:nvPr>
            <p:ph idx="1"/>
          </p:nvPr>
        </p:nvGraphicFramePr>
        <p:xfrm>
          <a:off x="3568700" y="203200"/>
          <a:ext cx="5105400" cy="3873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Semantic Facet</a:t>
                      </a:r>
                    </a:p>
                  </a:txBody>
                  <a:tcPr/>
                </a:tc>
                <a:tc>
                  <a:txBody>
                    <a:bodyPr/>
                    <a:lstStyle/>
                    <a:p>
                      <a:pPr lvl="0" indent="0" marL="0">
                        <a:buNone/>
                      </a:pPr>
                      <a:r>
                        <a:rPr/>
                        <a:t>Value</a:t>
                      </a:r>
                    </a:p>
                  </a:txBody>
                  <a:tcPr/>
                </a:tc>
              </a:tr>
              <a:tr h="0">
                <a:tc>
                  <a:txBody>
                    <a:bodyPr/>
                    <a:lstStyle/>
                    <a:p>
                      <a:pPr lvl="0" indent="0" marL="0">
                        <a:buNone/>
                      </a:pPr>
                      <a:r>
                        <a:rPr/>
                        <a:t>Theme/root</a:t>
                      </a:r>
                    </a:p>
                  </a:txBody>
                </a:tc>
                <a:tc>
                  <a:txBody>
                    <a:bodyPr/>
                    <a:lstStyle/>
                    <a:p>
                      <a:pPr lvl="0" indent="0" marL="0">
                        <a:buNone/>
                      </a:pPr>
                      <a:r>
                        <a:rPr/>
                        <a:t>theory (s.y.-g.-o.p.-’)</a:t>
                      </a:r>
                    </a:p>
                  </a:txBody>
                </a:tc>
              </a:tr>
              <a:tr h="0">
                <a:tc>
                  <a:txBody>
                    <a:bodyPr/>
                    <a:lstStyle/>
                    <a:p>
                      <a:pPr lvl="0" indent="0" marL="0">
                        <a:buNone/>
                      </a:pPr>
                      <a:r>
                        <a:rPr/>
                        <a:t>What</a:t>
                      </a:r>
                    </a:p>
                  </a:txBody>
                </a:tc>
                <a:tc>
                  <a:txBody>
                    <a:bodyPr/>
                    <a:lstStyle/>
                    <a:p>
                      <a:pPr lvl="0" indent="0" marL="0">
                        <a:buNone/>
                      </a:pPr>
                      <a:r>
                        <a:rPr/>
                        <a:t>edition or publishing (t.a.-b.a.-p.-’)</a:t>
                      </a:r>
                    </a:p>
                  </a:txBody>
                </a:tc>
              </a:tr>
              <a:tr h="0">
                <a:tc>
                  <a:txBody>
                    <a:bodyPr/>
                    <a:lstStyle/>
                    <a:p>
                      <a:pPr lvl="0" indent="0" marL="0">
                        <a:buNone/>
                      </a:pPr>
                      <a:r>
                        <a:rPr/>
                        <a:t>Who</a:t>
                      </a:r>
                    </a:p>
                  </a:txBody>
                </a:tc>
                <a:tc>
                  <a:txBody>
                    <a:bodyPr/>
                    <a:lstStyle/>
                    <a:p>
                      <a:pPr lvl="0" indent="0" marL="0">
                        <a:buNone/>
                      </a:pPr>
                      <a:r>
                        <a:rPr/>
                        <a:t>-</a:t>
                      </a:r>
                    </a:p>
                  </a:txBody>
                </a:tc>
              </a:tr>
              <a:tr h="0">
                <a:tc>
                  <a:txBody>
                    <a:bodyPr/>
                    <a:lstStyle/>
                    <a:p>
                      <a:pPr lvl="0" indent="0" marL="0">
                        <a:buNone/>
                      </a:pPr>
                      <a:r>
                        <a:rPr/>
                        <a:t>To whom</a:t>
                      </a:r>
                    </a:p>
                  </a:txBody>
                </a:tc>
                <a:tc>
                  <a:txBody>
                    <a:bodyPr/>
                    <a:lstStyle/>
                    <a:p>
                      <a:pPr lvl="0" indent="0" marL="0">
                        <a:buNone/>
                      </a:pPr>
                      <a:r>
                        <a:rPr/>
                        <a:t>-</a:t>
                      </a:r>
                    </a:p>
                  </a:txBody>
                </a:tc>
              </a:tr>
              <a:tr h="0">
                <a:tc>
                  <a:txBody>
                    <a:bodyPr/>
                    <a:lstStyle/>
                    <a:p>
                      <a:pPr lvl="0" indent="0" marL="0">
                        <a:buNone/>
                      </a:pPr>
                      <a:r>
                        <a:rPr/>
                        <a:t>By which means</a:t>
                      </a:r>
                    </a:p>
                  </a:txBody>
                </a:tc>
                <a:tc>
                  <a:txBody>
                    <a:bodyPr/>
                    <a:lstStyle/>
                    <a:p>
                      <a:pPr lvl="0" indent="0" marL="0">
                        <a:buNone/>
                      </a:pPr>
                      <a:r>
                        <a:rPr/>
                        <a:t>*has property ~multiple process</a:t>
                      </a:r>
                    </a:p>
                  </a:txBody>
                </a:tc>
              </a:tr>
              <a:tr h="0">
                <a:tc>
                  <a:txBody>
                    <a:bodyPr/>
                    <a:lstStyle/>
                    <a:p>
                      <a:pPr lvl="0" indent="0" marL="0">
                        <a:buNone/>
                      </a:pPr>
                      <a:r>
                        <a:rPr/>
                        <a:t>When</a:t>
                      </a:r>
                    </a:p>
                  </a:txBody>
                </a:tc>
                <a:tc>
                  <a:txBody>
                    <a:bodyPr/>
                    <a:lstStyle/>
                    <a:p>
                      <a:pPr lvl="0" indent="0" marL="0">
                        <a:buNone/>
                      </a:pPr>
                      <a:r>
                        <a:rPr/>
                        <a:t>-</a:t>
                      </a:r>
                    </a:p>
                  </a:txBody>
                </a:tc>
              </a:tr>
              <a:tr h="0">
                <a:tc>
                  <a:txBody>
                    <a:bodyPr/>
                    <a:lstStyle/>
                    <a:p>
                      <a:pPr lvl="0" indent="0" marL="0">
                        <a:buNone/>
                      </a:pPr>
                      <a:r>
                        <a:rPr/>
                        <a:t>Where</a:t>
                      </a:r>
                    </a:p>
                  </a:txBody>
                </a:tc>
                <a:tc>
                  <a:txBody>
                    <a:bodyPr/>
                    <a:lstStyle/>
                    <a:p>
                      <a:pPr lvl="0" indent="0" marL="0">
                        <a:buNone/>
                      </a:pPr>
                      <a:r>
                        <a:rPr/>
                        <a:t>-</a:t>
                      </a:r>
                    </a:p>
                  </a:txBody>
                </a:tc>
              </a:tr>
              <a:tr h="0">
                <a:tc>
                  <a:txBody>
                    <a:bodyPr/>
                    <a:lstStyle/>
                    <a:p>
                      <a:pPr lvl="0" indent="0" marL="0">
                        <a:buNone/>
                      </a:pPr>
                      <a:r>
                        <a:rPr/>
                        <a:t>Why</a:t>
                      </a:r>
                    </a:p>
                  </a:txBody>
                </a:tc>
                <a:tc>
                  <a:txBody>
                    <a:bodyPr/>
                    <a:lstStyle/>
                    <a:p>
                      <a:pPr lvl="0" indent="0" marL="0">
                        <a:buNone/>
                      </a:pPr>
                      <a:r>
                        <a:rPr/>
                        <a:t>-</a:t>
                      </a:r>
                    </a:p>
                  </a:txBody>
                </a:tc>
              </a:tr>
              <a:tr h="0">
                <a:tc>
                  <a:txBody>
                    <a:bodyPr/>
                    <a:lstStyle/>
                    <a:p>
                      <a:pPr lvl="0" indent="0" marL="0">
                        <a:buNone/>
                      </a:pPr>
                      <a:r>
                        <a:rPr/>
                        <a:t>How</a:t>
                      </a:r>
                    </a:p>
                  </a:txBody>
                </a:tc>
                <a:tc>
                  <a:txBody>
                    <a:bodyPr/>
                    <a:lstStyle/>
                    <a:p>
                      <a:pPr lvl="0" indent="0" marL="0">
                        <a:buNone/>
                      </a:pPr>
                      <a:r>
                        <a:rPr/>
                        <a:t>-</a:t>
                      </a:r>
                    </a:p>
                  </a:txBody>
                </a:tc>
              </a:tr>
            </a:tbl>
          </a:graphicData>
        </a:graphic>
      </p:graphicFrame>
      <p:sp>
        <p:nvSpPr>
          <p:cNvPr id="1" name="TextBox 3"/>
          <p:cNvSpPr txBox="1"/>
          <p:nvPr/>
        </p:nvSpPr>
        <p:spPr>
          <a:xfrm>
            <a:off x="3568700" y="4076700"/>
            <a:ext cx="5105400" cy="508000"/>
          </a:xfrm>
          <a:prstGeom prst="rect">
            <a:avLst/>
          </a:prstGeom>
          <a:noFill/>
        </p:spPr>
        <p:txBody>
          <a:bodyPr/>
          <a:lstStyle/>
          <a:p>
            <a:pPr lvl="0" indent="0" marL="0" algn="ctr">
              <a:buNone/>
            </a:pPr>
            <a:r>
              <a:rPr/>
              <a:t>IEML decomposition matrix based on 9 semantic facets for the keyword </a:t>
            </a:r>
            <a:r>
              <a:rPr b="1"/>
              <a:t>editorialisation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iemlgrid.png" id="0" name="Picture 1"/>
          <p:cNvPicPr>
            <a:picLocks noGrp="1" noChangeAspect="1"/>
          </p:cNvPicPr>
          <p:nvPr/>
        </p:nvPicPr>
        <p:blipFill>
          <a:blip r:embed="rId2"/>
          <a:stretch>
            <a:fillRect/>
          </a:stretch>
        </p:blipFill>
        <p:spPr bwMode="auto">
          <a:xfrm>
            <a:off x="2832100" y="1193800"/>
            <a:ext cx="3479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Visualization of the grid in the IEML-RS plugin</a:t>
            </a:r>
          </a:p>
        </p:txBody>
      </p:sp>
      <p:sp>
        <p:nvSpPr>
          <p:cNvPr id="3" name="Content Placeholder 2"/>
          <p:cNvSpPr>
            <a:spLocks noGrp="1"/>
          </p:cNvSpPr>
          <p:nvPr>
            <p:ph idx="1"/>
          </p:nvPr>
        </p:nvSpPr>
        <p:spPr/>
        <p:txBody>
          <a:bodyPr/>
          <a:lstStyle/>
          <a:p>
            <a:pPr lvl="0" indent="0" marL="0">
              <a:buNone/>
            </a:pPr>
            <a:r>
              <a:rPr/>
              <a:t>Rules :</a:t>
            </a:r>
          </a:p>
          <a:p>
            <a:pPr lvl="0"/>
            <a:r>
              <a:rPr/>
              <a:t>the grid doesn’t have to be filled</a:t>
            </a:r>
          </a:p>
          <a:p>
            <a:pPr lvl="0"/>
            <a:r>
              <a:rPr/>
              <a:t>flexions are represented with *, ~</a:t>
            </a:r>
          </a:p>
          <a:p>
            <a:pPr lvl="0"/>
            <a:r>
              <a:rPr/>
              <a:t>le concepts have to be in the IEML dictionnary: </a:t>
            </a:r>
            <a:r>
              <a:rPr>
                <a:hlinkClick r:id="rId3"/>
              </a:rPr>
              <a:t>https://ieml.intlekt.io/</a:t>
            </a:r>
          </a:p>
          <a:p>
            <a:pPr lvl="0" indent="0" marL="0">
              <a:spcBef>
                <a:spcPts val="3000"/>
              </a:spcBef>
              <a:buNone/>
            </a:pPr>
            <a:r>
              <a:rPr b="1"/>
              <a:t>Lexical level of deeper level of conceptualisation</a:t>
            </a:r>
          </a:p>
          <a:p>
            <a:pPr lvl="0" indent="0" marL="0">
              <a:buNone/>
            </a:pPr>
            <a:r>
              <a:rPr b="1"/>
              <a:t>publishing</a:t>
            </a:r>
            <a:r>
              <a:rPr/>
              <a:t>: t.a.-b.a.-p.-’</a:t>
            </a:r>
          </a:p>
          <a:p>
            <a:pPr lvl="0" indent="0" marL="0">
              <a:buNone/>
            </a:pPr>
            <a:r>
              <a:rPr/>
              <a:t>Rules:</a:t>
            </a:r>
          </a:p>
          <a:p>
            <a:pPr lvl="0"/>
            <a:r>
              <a:rPr/>
              <a:t>Any concept can be described from the combination of 6 ‘primitives’: E (emptiness), U (virtual), A (actual), S (sign), B (being), and T (thing).</a:t>
            </a:r>
          </a:p>
          <a:p>
            <a:pPr lvl="0"/>
            <a:r>
              <a:rPr/>
              <a:t>A combination between two ‘primitives’ is a lowercase letter: there are 26 symbols.</a:t>
            </a:r>
          </a:p>
          <a:p>
            <a:pPr lvl="0"/>
            <a:r>
              <a:rPr/>
              <a:t>There are up to 6 layers of semantic desambiguisation represented with punctuation (ex: the dot is the first layer).</a:t>
            </a:r>
          </a:p>
          <a:p>
            <a:pPr lvl="0"/>
            <a:r>
              <a:rPr/>
              <a:t>Each layer is represented by a triad following the syntax: substance (role 1), attribute (role 2), and mode (role 3). An empty space in a layer is simply not represented.</a:t>
            </a:r>
          </a:p>
        </p:txBody>
      </p:sp>
      <p:pic>
        <p:nvPicPr>
          <p:cNvPr descr="img/ieml-declinaison-lettre-M2.png" id="0" name="Picture 1"/>
          <p:cNvPicPr>
            <a:picLocks noGrp="1" noChangeAspect="1"/>
          </p:cNvPicPr>
          <p:nvPr/>
        </p:nvPicPr>
        <p:blipFill>
          <a:blip r:embed="rId4"/>
          <a:stretch>
            <a:fillRect/>
          </a:stretch>
        </p:blipFill>
        <p:spPr bwMode="auto">
          <a:xfrm>
            <a:off x="2400300" y="1193800"/>
            <a:ext cx="43307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Modulation of the primitive </a:t>
            </a:r>
            <a:r>
              <a:rPr b="1"/>
              <a:t>M</a:t>
            </a:r>
          </a:p>
        </p:txBody>
      </p:sp>
      <p:pic>
        <p:nvPicPr>
          <p:cNvPr descr="img/ieml_dict_grid_publishing.png" id="0" name="Picture 1"/>
          <p:cNvPicPr>
            <a:picLocks noGrp="1" noChangeAspect="1"/>
          </p:cNvPicPr>
          <p:nvPr/>
        </p:nvPicPr>
        <p:blipFill>
          <a:blip r:embed="rId5"/>
          <a:stretch>
            <a:fillRect/>
          </a:stretch>
        </p:blipFill>
        <p:spPr bwMode="auto">
          <a:xfrm>
            <a:off x="2070100" y="1193800"/>
            <a:ext cx="5003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Modulation of the primitive M on the first segment shifts meaning from </a:t>
            </a:r>
            <a:r>
              <a:rPr b="1"/>
              <a:t>b</a:t>
            </a:r>
            <a:r>
              <a:rPr/>
              <a:t> associated with ‘language’ in </a:t>
            </a:r>
            <a:r>
              <a:rPr b="1"/>
              <a:t>literature</a:t>
            </a:r>
            <a:r>
              <a:rPr/>
              <a:t> to a </a:t>
            </a:r>
            <a:r>
              <a:rPr b="1"/>
              <a:t>t</a:t>
            </a:r>
            <a:r>
              <a:rPr/>
              <a:t> meaming ‘memory’ and creating </a:t>
            </a:r>
            <a:r>
              <a:rPr b="1"/>
              <a:t>publishing</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demo-ieml-rs2.mp4"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Demonstration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 of Main Features</a:t>
            </a:r>
          </a:p>
        </p:txBody>
      </p:sp>
      <p:sp>
        <p:nvSpPr>
          <p:cNvPr id="3" name="Content Placeholder 2"/>
          <p:cNvSpPr>
            <a:spLocks noGrp="1"/>
          </p:cNvSpPr>
          <p:nvPr>
            <p:ph idx="1"/>
          </p:nvPr>
        </p:nvSpPr>
        <p:spPr/>
        <p:txBody>
          <a:bodyPr/>
          <a:lstStyle/>
          <a:p>
            <a:pPr lvl="0"/>
            <a:r>
              <a:rPr/>
              <a:t>Exploration and extansion of a semantic field thanks to IEML starting from a keyword describing the seed article.</a:t>
            </a:r>
          </a:p>
          <a:p>
            <a:pPr lvl="0"/>
            <a:r>
              <a:rPr/>
              <a:t>Automatic generation and correction (human-in-the-loop) of missing ‘translations’.</a:t>
            </a:r>
          </a:p>
          <a:p>
            <a:pPr lvl="0"/>
            <a:r>
              <a:rPr/>
              <a:t>Construction of a query sent to the search engine Isidore.</a:t>
            </a:r>
          </a:p>
          <a:p>
            <a:pPr lvl="0"/>
            <a:r>
              <a:rPr/>
              <a:t>Side by side comparison of article lists retrieved from the user-selected keywords </a:t>
            </a:r>
            <a:r>
              <a:rPr b="1"/>
              <a:t>and</a:t>
            </a:r>
            <a:r>
              <a:rPr/>
              <a:t> an LLM-augmented query from those same keywords.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Prompts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“Translation” Prompt into IEML</a:t>
            </a:r>
          </a:p>
        </p:txBody>
      </p:sp>
      <p:sp>
        <p:nvSpPr>
          <p:cNvPr id="3" name="Content Placeholder 2"/>
          <p:cNvSpPr>
            <a:spLocks noGrp="1"/>
          </p:cNvSpPr>
          <p:nvPr>
            <p:ph idx="1"/>
          </p:nvPr>
        </p:nvSpPr>
        <p:spPr/>
        <p:txBody>
          <a:bodyPr/>
          <a:lstStyle/>
          <a:p>
            <a:pPr lvl="0" indent="0" marL="0">
              <a:buNone/>
            </a:pPr>
            <a:r>
              <a:rPr b="1"/>
              <a:t>English version</a:t>
            </a:r>
            <a:r>
              <a:rPr/>
              <a:t>:</a:t>
            </a:r>
          </a:p>
          <a:p>
            <a:pPr lvl="0" indent="0" marL="0">
              <a:buNone/>
            </a:pPr>
            <a:r>
              <a:rPr/>
              <a:t>You are a semantics expert. You must semantically decompose the keyword “${keyword}” based on the following 9 values: ‘theme, who, what, to whom, by what means, when, where, why, how’ ## Examples ${examples}</a:t>
            </a:r>
          </a:p>
          <a:p>
            <a:pPr lvl="0" indent="0" marL="0">
              <a:buNone/>
            </a:pPr>
            <a:r>
              <a:rPr/>
              <a:t>## Dictionary Words You must use the words below to define the keyword “${keyword}”: ${context}</a:t>
            </a:r>
          </a:p>
          <a:p>
            <a:pPr lvl="0" indent="0" marL="0">
              <a:buNone/>
            </a:pPr>
            <a:r>
              <a:rPr/>
              <a:t>Your response must take the form of a CSV with 9 columns; the column headers are: ‘theme, who, what, to whom, by what means, when, where, why, how’ It is not necessary to fill all fields. A field can remain empty between two commas, as in the examples. Respond only with a final CSV line, without explanation.</a:t>
            </a:r>
          </a:p>
          <a:p>
            <a:pPr lvl="0" indent="0" marL="0">
              <a:buNone/>
            </a:pPr>
            <a:r>
              <a:rPr b="1"/>
              <a:t>Original in French:</a:t>
            </a:r>
          </a:p>
          <a:p>
            <a:pPr lvl="0" indent="0">
              <a:buNone/>
            </a:pPr>
            <a:r>
              <a:rPr>
                <a:latin typeface="Courier"/>
              </a:rPr>
              <a:t>Tu es un expert en sémantique. Tu dois décomposer sémantiquement le mot-clé "${keyword}" à partir des 9 valeurs suivantes :
'thème, qui, quoi, à qui, par quoi, quand, où, pourquoi, comment'
## Exemples
${examples}
## Mots du dictionnaire 
Tu dois utiliser les mots ci-dessous pour définir le mot-clé "${keyword}":
${context}
Ta réponse prendra la forme d'un CSV à 9 colonnes, les entêtes de colonnes sont: 
'thème, qui, quoi, à qui, par quoi, quand, où, pourquoi, comment'
Il n'est pas nécessaire de remplir tous les champs. Un champs peut rester vide entre deux virgules, comme dans les exemples. 
Répond uniquement avec une ligne CSV finale, sans explication.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Query Augmentation Prompt</a:t>
            </a:r>
          </a:p>
        </p:txBody>
      </p:sp>
      <p:sp>
        <p:nvSpPr>
          <p:cNvPr id="3" name="Content Placeholder 2"/>
          <p:cNvSpPr>
            <a:spLocks noGrp="1"/>
          </p:cNvSpPr>
          <p:nvPr>
            <p:ph idx="1"/>
          </p:nvPr>
        </p:nvSpPr>
        <p:spPr/>
        <p:txBody>
          <a:bodyPr/>
          <a:lstStyle/>
          <a:p>
            <a:pPr lvl="0" indent="0" marL="0">
              <a:buNone/>
            </a:pPr>
            <a:r>
              <a:rPr b="1"/>
              <a:t>English version:</a:t>
            </a:r>
          </a:p>
          <a:p>
            <a:pPr lvl="0" indent="0" marL="0">
              <a:buNone/>
            </a:pPr>
            <a:r>
              <a:rPr/>
              <a:t>Generate 10 variants of the following Boolean query “${keywords}”. Combine the proposed queries using the OR operator as in the example:</a:t>
            </a:r>
          </a:p>
          <a:p>
            <a:pPr lvl="0" indent="0" marL="0">
              <a:buNone/>
            </a:pPr>
            <a:r>
              <a:rPr/>
              <a:t>Keywords: “impact of climate change on biodiversity”.</a:t>
            </a:r>
          </a:p>
          <a:p>
            <a:pPr lvl="0" indent="0" marL="0">
              <a:buNone/>
            </a:pPr>
            <a:r>
              <a:rPr/>
              <a:t>Response: “(climate change biodiversity impact) OR (effects of climate change on ecosystems) OR (biodiversity loss due to climate change) OR (climate change species extinction) OR (impact of global warming on wildlife) OR (effects of climate change on ecosystems and species diversity) OR (how climate change impacts wildlife and biodiversity) OR (climate change consequences for biological diversity) OR (relationship between climate change and loss of biodiversity) OR (climate change threats to flora and fauna diversity) OR (impact of climate change on biodiversity) Now it is your turn with”${keywords}“.</a:t>
            </a:r>
          </a:p>
          <a:p>
            <a:pPr lvl="0" indent="0" marL="0">
              <a:buNone/>
            </a:pPr>
            <a:r>
              <a:rPr/>
              <a:t>Respond only with the query without giving any explanation.</a:t>
            </a:r>
          </a:p>
          <a:p>
            <a:pPr lvl="0" indent="0" marL="0">
              <a:buNone/>
            </a:pPr>
            <a:r>
              <a:rPr b="1"/>
              <a:t>Original in French:</a:t>
            </a:r>
            <a:r>
              <a:rPr/>
              <a:t>:</a:t>
            </a:r>
          </a:p>
          <a:p>
            <a:pPr lvl="0" indent="0">
              <a:buNone/>
            </a:pPr>
            <a:r>
              <a:rPr>
                <a:latin typeface="Courier"/>
              </a:rPr>
              <a:t>Produit 10 variants de la requête booléenne suivante "${keywords}". Combine les requêtes proposées à l'aide de l'opérateur OU comme dans l'exemple : Mots-clés:  "impact of climate change on biodiversity". Réponse: "
(climate change biodiversity impact) OU (effects of climate change on ecosystems) OU (biodiversity loss due to climate change) OU (climate change species extinction) OU (impact of global warming on wildlife) OU (effects of climate change on ecosystems and species diversity) OU (how climate change impacts wildlife and biodiversity) OR (climate change consequences for biological diversity) OU (relationship between climate change and loss of biodiversity) OU (climate change threats to flora and fauna diversity) OU (impact of climate change on biodiversity)
C'est à ton tour avec "${keywords}". Répond uniquement avec la requête sans donner d'explication.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Evaluations</a:t>
            </a:r>
          </a:p>
        </p:txBody>
      </p:sp>
      <p:sp>
        <p:nvSpPr>
          <p:cNvPr id="3" name="Content Placeholder 2"/>
          <p:cNvSpPr>
            <a:spLocks noGrp="1"/>
          </p:cNvSpPr>
          <p:nvPr>
            <p:ph idx="1"/>
          </p:nvPr>
        </p:nvSpPr>
        <p:spPr/>
        <p:txBody>
          <a:bodyPr/>
          <a:lstStyle/>
          <a:p>
            <a:pPr lvl="0"/>
            <a:r>
              <a:rPr/>
              <a:t>Quantitative evaluation of the translation produced by the LLM in IEML (RAG to anchor translations in IEML dictionary words).</a:t>
            </a:r>
          </a:p>
          <a:p>
            <a:pPr lvl="0"/>
            <a:r>
              <a:rPr/>
              <a:t>Qualitative evaluation (user study) of the application as a whole.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Evaluation of Automatic Translation into IEML</a:t>
            </a:r>
          </a:p>
        </p:txBody>
      </p:sp>
      <p:sp>
        <p:nvSpPr>
          <p:cNvPr id="3" name="Content Placeholder 2"/>
          <p:cNvSpPr>
            <a:spLocks noGrp="1"/>
          </p:cNvSpPr>
          <p:nvPr>
            <p:ph idx="1"/>
          </p:nvPr>
        </p:nvSpPr>
        <p:spPr/>
        <p:txBody>
          <a:bodyPr/>
          <a:lstStyle/>
          <a:p>
            <a:pPr lvl="0" indent="0" marL="0">
              <a:buNone/>
            </a:pPr>
            <a:r>
              <a:rPr/>
              <a:t>Expected translation</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Examples of translations produced by rag-llama-fewshot.</a:t>
            </a:r>
          </a:p>
          <a:p>
            <a:pPr lvl="0" indent="0" marL="0">
              <a:buNone/>
            </a:pPr>
            <a:r>
              <a:rPr/>
              <a:t>LLMs still do not perform well for structured meaning representation e.g. with Abstract Meaning Representation (AMR) (Ettinger et al. 2023).</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Evaluation Summary</a:t>
            </a:r>
          </a:p>
        </p:txBody>
      </p:sp>
      <p:sp>
        <p:nvSpPr>
          <p:cNvPr id="4" name="Text Placeholder 3"/>
          <p:cNvSpPr>
            <a:spLocks noGrp="1"/>
          </p:cNvSpPr>
          <p:nvPr>
            <p:ph idx="2" sz="half" type="body"/>
          </p:nvPr>
        </p:nvSpPr>
        <p:spPr/>
        <p:txBody>
          <a:bodyPr/>
          <a:lstStyle/>
          <a:p>
            <a:pPr lvl="0" indent="0" marL="0">
              <a:buNone/>
            </a:pPr>
            <a:r>
              <a:rPr/>
              <a:t>Models (via Together AI API):</a:t>
            </a:r>
          </a:p>
          <a:p>
            <a:pPr lvl="0"/>
            <a:r>
              <a:rPr/>
              <a:t>Meta-Llama-3-70B-Instruct-Turbo</a:t>
            </a:r>
          </a:p>
          <a:p>
            <a:pPr lvl="0"/>
            <a:r>
              <a:rPr/>
              <a:t>Gemma-3n-E4B-it</a:t>
            </a:r>
          </a:p>
          <a:p>
            <a:pPr lvl="0"/>
            <a:r>
              <a:rPr/>
              <a:t>GPT-oss-20B</a:t>
            </a:r>
          </a:p>
        </p:txBody>
      </p:sp>
      <p:graphicFrame>
        <p:nvGraphicFramePr>
          <p:cNvPr id="6" name="Content Placeholder 5"/>
          <p:cNvGraphicFramePr>
            <a:graphicFrameLocks noGrp="1"/>
          </p:cNvGraphicFramePr>
          <p:nvPr>
            <p:ph idx="1"/>
          </p:nvPr>
        </p:nvGraphicFramePr>
        <p:xfrm>
          <a:off x="3568700" y="203200"/>
          <a:ext cx="5105400" cy="3873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model/strategy</a:t>
                      </a:r>
                    </a:p>
                  </a:txBody>
                  <a:tcPr/>
                </a:tc>
                <a:tc>
                  <a:txBody>
                    <a:bodyPr/>
                    <a:lstStyle/>
                    <a:p>
                      <a:pPr lvl="0" indent="0" marL="0">
                        <a:buNone/>
                      </a:pPr>
                      <a:r>
                        <a:rPr/>
                        <a:t>BLEU</a:t>
                      </a:r>
                    </a:p>
                  </a:txBody>
                  <a:tcPr/>
                </a:tc>
                <a:tc>
                  <a:txBody>
                    <a:bodyPr/>
                    <a:lstStyle/>
                    <a:p>
                      <a:pPr lvl="0" indent="0" marL="0">
                        <a:buNone/>
                      </a:pPr>
                      <a:r>
                        <a:rPr/>
                        <a:t>Cosine</a:t>
                      </a:r>
                    </a:p>
                  </a:txBody>
                  <a:tcPr/>
                </a:tc>
                <a:tc>
                  <a:txBody>
                    <a:bodyPr/>
                    <a:lstStyle/>
                    <a:p>
                      <a:pPr lvl="0" indent="0" marL="0">
                        <a:buNone/>
                      </a:pPr>
                      <a:r>
                        <a:rPr/>
                        <a:t>avg</a:t>
                      </a:r>
                    </a:p>
                  </a:txBody>
                  <a:tcPr/>
                </a:tc>
              </a:tr>
              <a:tr h="0">
                <a:tc>
                  <a:txBody>
                    <a:bodyPr/>
                    <a:lstStyle/>
                    <a:p>
                      <a:pPr lvl="0" indent="0" marL="0">
                        <a:buNone/>
                      </a:pPr>
                      <a:r>
                        <a:rPr/>
                        <a:t>baseline</a:t>
                      </a:r>
                    </a:p>
                  </a:txBody>
                </a:tc>
                <a:tc>
                  <a:txBody>
                    <a:bodyPr/>
                    <a:lstStyle/>
                    <a:p>
                      <a:pPr lvl="0" indent="0" marL="0">
                        <a:buNone/>
                      </a:pPr>
                      <a:r>
                        <a:rPr/>
                        <a:t>0.056</a:t>
                      </a:r>
                    </a:p>
                  </a:txBody>
                </a:tc>
                <a:tc>
                  <a:txBody>
                    <a:bodyPr/>
                    <a:lstStyle/>
                    <a:p>
                      <a:pPr lvl="0" indent="0" marL="0">
                        <a:buNone/>
                      </a:pPr>
                      <a:r>
                        <a:rPr/>
                        <a:t>0.515</a:t>
                      </a:r>
                    </a:p>
                  </a:txBody>
                </a:tc>
                <a:tc>
                  <a:txBody>
                    <a:bodyPr/>
                    <a:lstStyle/>
                    <a:p>
                      <a:pPr lvl="0" indent="0" marL="0">
                        <a:buNone/>
                      </a:pPr>
                      <a:r>
                        <a:rPr/>
                        <a:t>0.286</a:t>
                      </a:r>
                    </a:p>
                  </a:txBody>
                </a:tc>
              </a:tr>
              <a:tr h="0">
                <a:tc>
                  <a:txBody>
                    <a:bodyPr/>
                    <a:lstStyle/>
                    <a:p>
                      <a:pPr lvl="0" indent="0" marL="0">
                        <a:buNone/>
                      </a:pPr>
                      <a:r>
                        <a:rPr/>
                        <a:t>llama_fewshot</a:t>
                      </a:r>
                    </a:p>
                  </a:txBody>
                </a:tc>
                <a:tc>
                  <a:txBody>
                    <a:bodyPr/>
                    <a:lstStyle/>
                    <a:p>
                      <a:pPr lvl="0" indent="0" marL="0">
                        <a:buNone/>
                      </a:pPr>
                      <a:r>
                        <a:rPr b="1"/>
                        <a:t>0.0222</a:t>
                      </a:r>
                    </a:p>
                  </a:txBody>
                </a:tc>
                <a:tc>
                  <a:txBody>
                    <a:bodyPr/>
                    <a:lstStyle/>
                    <a:p>
                      <a:pPr lvl="0" indent="0" marL="0">
                        <a:buNone/>
                      </a:pPr>
                      <a:r>
                        <a:rPr b="1"/>
                        <a:t>0.555</a:t>
                      </a:r>
                    </a:p>
                  </a:txBody>
                </a:tc>
                <a:tc>
                  <a:txBody>
                    <a:bodyPr/>
                    <a:lstStyle/>
                    <a:p>
                      <a:pPr lvl="0" indent="0" marL="0">
                        <a:buNone/>
                      </a:pPr>
                      <a:r>
                        <a:rPr b="1"/>
                        <a:t>0.289</a:t>
                      </a:r>
                    </a:p>
                  </a:txBody>
                </a:tc>
              </a:tr>
              <a:tr h="0">
                <a:tc>
                  <a:txBody>
                    <a:bodyPr/>
                    <a:lstStyle/>
                    <a:p>
                      <a:pPr lvl="0" indent="0" marL="0">
                        <a:buNone/>
                      </a:pPr>
                      <a:r>
                        <a:rPr/>
                        <a:t>gemma_fewshot</a:t>
                      </a:r>
                    </a:p>
                  </a:txBody>
                </a:tc>
                <a:tc>
                  <a:txBody>
                    <a:bodyPr/>
                    <a:lstStyle/>
                    <a:p>
                      <a:pPr lvl="0" indent="0" marL="0">
                        <a:buNone/>
                      </a:pPr>
                      <a:r>
                        <a:rPr/>
                        <a:t>0.020</a:t>
                      </a:r>
                    </a:p>
                  </a:txBody>
                </a:tc>
                <a:tc>
                  <a:txBody>
                    <a:bodyPr/>
                    <a:lstStyle/>
                    <a:p>
                      <a:pPr lvl="0" indent="0" marL="0">
                        <a:buNone/>
                      </a:pPr>
                      <a:r>
                        <a:rPr/>
                        <a:t>0.491</a:t>
                      </a:r>
                    </a:p>
                  </a:txBody>
                </a:tc>
                <a:tc>
                  <a:txBody>
                    <a:bodyPr/>
                    <a:lstStyle/>
                    <a:p>
                      <a:pPr lvl="0" indent="0" marL="0">
                        <a:buNone/>
                      </a:pPr>
                      <a:r>
                        <a:rPr/>
                        <a:t>0.255</a:t>
                      </a:r>
                    </a:p>
                  </a:txBody>
                </a:tc>
              </a:tr>
              <a:tr h="0">
                <a:tc>
                  <a:txBody>
                    <a:bodyPr/>
                    <a:lstStyle/>
                    <a:p>
                      <a:pPr lvl="0" indent="0" marL="0">
                        <a:buNone/>
                      </a:pPr>
                      <a:r>
                        <a:rPr/>
                        <a:t>openai_fewshot</a:t>
                      </a:r>
                    </a:p>
                  </a:txBody>
                </a:tc>
                <a:tc>
                  <a:txBody>
                    <a:bodyPr/>
                    <a:lstStyle/>
                    <a:p>
                      <a:pPr lvl="0" indent="0" marL="0">
                        <a:buNone/>
                      </a:pPr>
                      <a:r>
                        <a:rPr/>
                        <a:t>0.0167</a:t>
                      </a:r>
                    </a:p>
                  </a:txBody>
                </a:tc>
                <a:tc>
                  <a:txBody>
                    <a:bodyPr/>
                    <a:lstStyle/>
                    <a:p>
                      <a:pPr lvl="0" indent="0" marL="0">
                        <a:buNone/>
                      </a:pPr>
                      <a:r>
                        <a:rPr/>
                        <a:t>0.498</a:t>
                      </a:r>
                    </a:p>
                  </a:txBody>
                </a:tc>
                <a:tc>
                  <a:txBody>
                    <a:bodyPr/>
                    <a:lstStyle/>
                    <a:p>
                      <a:pPr lvl="0" indent="0" marL="0">
                        <a:buNone/>
                      </a:pPr>
                      <a:r>
                        <a:rPr/>
                        <a:t>0.257</a:t>
                      </a:r>
                    </a:p>
                  </a:txBody>
                </a:tc>
              </a:tr>
              <a:tr h="0">
                <a:tc>
                  <a:txBody>
                    <a:bodyPr/>
                    <a:lstStyle/>
                    <a:p>
                      <a:pPr lvl="0" indent="0" marL="0">
                        <a:buNone/>
                      </a:pPr>
                      <a:r>
                        <a:rPr/>
                        <a:t>llama_zeroshot</a:t>
                      </a:r>
                    </a:p>
                  </a:txBody>
                </a:tc>
                <a:tc>
                  <a:txBody>
                    <a:bodyPr/>
                    <a:lstStyle/>
                    <a:p>
                      <a:pPr lvl="0" indent="0" marL="0">
                        <a:buNone/>
                      </a:pPr>
                      <a:r>
                        <a:rPr/>
                        <a:t>0.0129</a:t>
                      </a:r>
                    </a:p>
                  </a:txBody>
                </a:tc>
                <a:tc>
                  <a:txBody>
                    <a:bodyPr/>
                    <a:lstStyle/>
                    <a:p>
                      <a:pPr lvl="0" indent="0" marL="0">
                        <a:buNone/>
                      </a:pPr>
                      <a:r>
                        <a:rPr/>
                        <a:t>0.514</a:t>
                      </a:r>
                    </a:p>
                  </a:txBody>
                </a:tc>
                <a:tc>
                  <a:txBody>
                    <a:bodyPr/>
                    <a:lstStyle/>
                    <a:p>
                      <a:pPr lvl="0" indent="0" marL="0">
                        <a:buNone/>
                      </a:pPr>
                      <a:r>
                        <a:rPr/>
                        <a:t>0.263</a:t>
                      </a:r>
                    </a:p>
                  </a:txBody>
                </a:tc>
              </a:tr>
              <a:tr h="0">
                <a:tc>
                  <a:txBody>
                    <a:bodyPr/>
                    <a:lstStyle/>
                    <a:p>
                      <a:pPr lvl="0" indent="0" marL="0">
                        <a:buNone/>
                      </a:pPr>
                      <a:r>
                        <a:rPr/>
                        <a:t>gemma_zeroshot</a:t>
                      </a:r>
                    </a:p>
                  </a:txBody>
                </a:tc>
                <a:tc>
                  <a:txBody>
                    <a:bodyPr/>
                    <a:lstStyle/>
                    <a:p>
                      <a:pPr lvl="0" indent="0" marL="0">
                        <a:buNone/>
                      </a:pPr>
                      <a:r>
                        <a:rPr/>
                        <a:t>0.0160</a:t>
                      </a:r>
                    </a:p>
                  </a:txBody>
                </a:tc>
                <a:tc>
                  <a:txBody>
                    <a:bodyPr/>
                    <a:lstStyle/>
                    <a:p>
                      <a:pPr lvl="0" indent="0" marL="0">
                        <a:buNone/>
                      </a:pPr>
                      <a:r>
                        <a:rPr/>
                        <a:t>0.479</a:t>
                      </a:r>
                    </a:p>
                  </a:txBody>
                </a:tc>
                <a:tc>
                  <a:txBody>
                    <a:bodyPr/>
                    <a:lstStyle/>
                    <a:p>
                      <a:pPr lvl="0" indent="0" marL="0">
                        <a:buNone/>
                      </a:pPr>
                      <a:r>
                        <a:rPr/>
                        <a:t>0.248</a:t>
                      </a:r>
                    </a:p>
                  </a:txBody>
                </a:tc>
              </a:tr>
              <a:tr h="0">
                <a:tc>
                  <a:txBody>
                    <a:bodyPr/>
                    <a:lstStyle/>
                    <a:p>
                      <a:pPr lvl="0" indent="0" marL="0">
                        <a:buNone/>
                      </a:pPr>
                      <a:r>
                        <a:rPr/>
                        <a:t>openai_zeroshot</a:t>
                      </a:r>
                    </a:p>
                  </a:txBody>
                </a:tc>
                <a:tc>
                  <a:txBody>
                    <a:bodyPr/>
                    <a:lstStyle/>
                    <a:p>
                      <a:pPr lvl="0" indent="0" marL="0">
                        <a:buNone/>
                      </a:pPr>
                      <a:r>
                        <a:rPr/>
                        <a:t>0.016</a:t>
                      </a:r>
                    </a:p>
                  </a:txBody>
                </a:tc>
                <a:tc>
                  <a:txBody>
                    <a:bodyPr/>
                    <a:lstStyle/>
                    <a:p>
                      <a:pPr lvl="0" indent="0" marL="0">
                        <a:buNone/>
                      </a:pPr>
                      <a:r>
                        <a:rPr/>
                        <a:t>0.493</a:t>
                      </a:r>
                    </a:p>
                  </a:txBody>
                </a:tc>
                <a:tc>
                  <a:txBody>
                    <a:bodyPr/>
                    <a:lstStyle/>
                    <a:p>
                      <a:pPr lvl="0" indent="0" marL="0">
                        <a:buNone/>
                      </a:pPr>
                      <a:r>
                        <a:rPr/>
                        <a:t>0.254</a:t>
                      </a:r>
                    </a:p>
                  </a:txBody>
                </a:tc>
              </a:tr>
            </a:tbl>
          </a:graphicData>
        </a:graphic>
      </p:graphicFrame>
      <p:sp>
        <p:nvSpPr>
          <p:cNvPr id="1" name="TextBox 3"/>
          <p:cNvSpPr txBox="1"/>
          <p:nvPr/>
        </p:nvSpPr>
        <p:spPr>
          <a:xfrm>
            <a:off x="3568700" y="4076700"/>
            <a:ext cx="5105400" cy="508000"/>
          </a:xfrm>
          <a:prstGeom prst="rect">
            <a:avLst/>
          </a:prstGeom>
          <a:noFill/>
        </p:spPr>
        <p:txBody>
          <a:bodyPr/>
          <a:lstStyle/>
          <a:p>
            <a:pPr lvl="0" indent="0" marL="0" algn="ctr">
              <a:buNone/>
            </a:pPr>
            <a:r>
              <a:rPr/>
              <a:t>Table of model evaluation for automatic translation</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context (i.e., dictionary entries) marginally improves performance.</a:t>
            </a:r>
          </a:p>
          <a:p>
            <a:pPr lvl="0" indent="0" marL="0">
              <a:buNone/>
            </a:pPr>
            <a:r>
              <a:rPr/>
              <a:t>Limits:</a:t>
            </a:r>
          </a:p>
          <a:p>
            <a:pPr lvl="0"/>
            <a:r>
              <a:rPr/>
              <a:t>BLEU and cosine are meant for the evaluation of natural language translation therefore are ill-suited for structured semantic language parsing.</a:t>
            </a:r>
          </a:p>
          <a:p>
            <a:pPr lvl="0"/>
            <a:r>
              <a:rPr/>
              <a:t>the retrieval part of the RAG makes choices that can potentially go against the principles of IEML representation. For instance the IR for ‘editorialisation’ will very likely retrieve from the IEML dictionnary ‘publishing’ with a vector-base search or ‘edition’ with BM25 but probably not ‘theory’ as these are farther apart. But the main advantage of IEML lies in its ability to bridge faraway concepts from common denominators.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Qualitative Evaluation of IEML-RS</a:t>
            </a:r>
          </a:p>
        </p:txBody>
      </p:sp>
      <p:sp>
        <p:nvSpPr>
          <p:cNvPr id="3" name="Content Placeholder 2"/>
          <p:cNvSpPr>
            <a:spLocks noGrp="1"/>
          </p:cNvSpPr>
          <p:nvPr>
            <p:ph idx="1"/>
          </p:nvPr>
        </p:nvSpPr>
        <p:spPr/>
        <p:txBody>
          <a:bodyPr/>
          <a:lstStyle/>
          <a:p>
            <a:pPr lvl="0" indent="0" marL="0">
              <a:buNone/>
            </a:pPr>
            <a:r>
              <a:rPr/>
              <a:t>6 users (PhD in Digital Humanities). Demonstration followed by 10 minutes of usage observation and a 15-minute interview.</a:t>
            </a:r>
          </a:p>
          <a:p>
            <a:pPr lvl="0" indent="0" marL="0">
              <a:buNone/>
            </a:pPr>
            <a:r>
              <a:rPr/>
              <a:t>Criteria:</a:t>
            </a:r>
          </a:p>
          <a:p>
            <a:pPr lvl="0"/>
            <a:r>
              <a:rPr/>
              <a:t>User-friendliness,</a:t>
            </a:r>
          </a:p>
          <a:p>
            <a:pPr lvl="0"/>
            <a:r>
              <a:rPr/>
              <a:t>Usefulness.</a:t>
            </a:r>
          </a:p>
          <a:p>
            <a:pPr lvl="0" indent="0" marL="0">
              <a:buNone/>
            </a:pPr>
            <a:r>
              <a:rPr/>
              <a:t>Features:</a:t>
            </a:r>
          </a:p>
          <a:p>
            <a:pPr lvl="0"/>
            <a:r>
              <a:rPr/>
              <a:t>Navigation (keywords and concepts),</a:t>
            </a:r>
          </a:p>
          <a:p>
            <a:pPr lvl="0"/>
            <a:r>
              <a:rPr/>
              <a:t>Translation into IEML,</a:t>
            </a:r>
          </a:p>
          <a:p>
            <a:pPr lvl="0"/>
            <a:r>
              <a:rPr/>
              <a:t>Comparison of article list panels.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User Study</a:t>
            </a:r>
          </a:p>
        </p:txBody>
      </p:sp>
      <p:sp>
        <p:nvSpPr>
          <p:cNvPr id="3" name="Content Placeholder 2"/>
          <p:cNvSpPr>
            <a:spLocks noGrp="1"/>
          </p:cNvSpPr>
          <p:nvPr>
            <p:ph idx="1"/>
          </p:nvPr>
        </p:nvSpPr>
        <p:spPr/>
        <p:txBody>
          <a:bodyPr/>
          <a:lstStyle/>
          <a:p>
            <a:pPr lvl="0"/>
            <a:r>
              <a:rPr b="1"/>
              <a:t>Ease of use</a:t>
            </a:r>
            <a:r>
              <a:rPr/>
              <a:t>:</a:t>
            </a:r>
          </a:p>
          <a:p>
            <a:pPr lvl="1"/>
            <a:r>
              <a:rPr/>
              <a:t>Confusion regarding the integration of concepts into the query,</a:t>
            </a:r>
          </a:p>
          <a:p>
            <a:pPr lvl="1"/>
            <a:r>
              <a:rPr/>
              <a:t>Automatic translation and validation: initial hurdle (limited database), </a:t>
            </a:r>
          </a:p>
          <a:p>
            <a:pPr lvl="0"/>
            <a:r>
              <a:rPr b="1"/>
              <a:t>Usefulness</a:t>
            </a:r>
            <a:r>
              <a:rPr/>
              <a:t>:</a:t>
            </a:r>
          </a:p>
          <a:p>
            <a:pPr lvl="1"/>
            <a:r>
              <a:rPr/>
              <a:t>Reveals strong disparities in user research practices (network and contextual IR vs. keyword search),</a:t>
            </a:r>
          </a:p>
          <a:p>
            <a:pPr lvl="1"/>
            <a:r>
              <a:rPr/>
              <a:t>Strength: comparative panels,</a:t>
            </a:r>
          </a:p>
          <a:p>
            <a:pPr lvl="1"/>
            <a:r>
              <a:rPr/>
              <a:t>Mixed-quality translation encourages </a:t>
            </a:r>
            <a:r>
              <a:rPr b="1"/>
              <a:t>user agency and dialogic and collaborative work with LLMs</a:t>
            </a:r>
            <a:r>
              <a:rPr/>
              <a:t> (Schneider 2026).</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Conclusion and Perspectives</a:t>
            </a:r>
          </a:p>
        </p:txBody>
      </p:sp>
      <p:sp>
        <p:nvSpPr>
          <p:cNvPr id="3" name="Content Placeholder 2"/>
          <p:cNvSpPr>
            <a:spLocks noGrp="1"/>
          </p:cNvSpPr>
          <p:nvPr>
            <p:ph idx="1"/>
          </p:nvPr>
        </p:nvSpPr>
        <p:spPr/>
        <p:txBody>
          <a:bodyPr/>
          <a:lstStyle/>
          <a:p>
            <a:pPr lvl="0" indent="0" marL="0">
              <a:buNone/>
            </a:pPr>
            <a:r>
              <a:rPr/>
              <a:t>Example of an environment design fostering serendipity.</a:t>
            </a:r>
          </a:p>
          <a:p>
            <a:pPr lvl="0" indent="0" marL="0">
              <a:buNone/>
            </a:pPr>
            <a:r>
              <a:rPr/>
              <a:t>Tools being developed in Digital Humanities:</a:t>
            </a:r>
          </a:p>
          <a:p>
            <a:pPr lvl="0"/>
            <a:r>
              <a:rPr/>
              <a:t>Barista from the Impresso project: query building assistant (Finn et al. 2026)</a:t>
            </a:r>
          </a:p>
          <a:p>
            <a:pPr lvl="0"/>
            <a:r>
              <a:rPr/>
              <a:t>Ongoing developments at Isidore for RAG limited to specific use cases (Sacy et al. 2025) </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Acknowledgements</a:t>
            </a:r>
          </a:p>
        </p:txBody>
      </p:sp>
      <p:sp>
        <p:nvSpPr>
          <p:cNvPr id="3" name="Content Placeholder 2"/>
          <p:cNvSpPr>
            <a:spLocks noGrp="1"/>
          </p:cNvSpPr>
          <p:nvPr>
            <p:ph idx="1"/>
          </p:nvPr>
        </p:nvSpPr>
        <p:spPr/>
        <p:txBody>
          <a:bodyPr/>
          <a:lstStyle/>
          <a:p>
            <a:pPr lvl="0" indent="0" marL="0">
              <a:buNone/>
            </a:pPr>
            <a:r>
              <a:rPr/>
              <a:t>Research funded by the SSHRC through the Revue3.0 partnership project, as well as a fellowship from the Circé Network and the Publica Coalition for mutualization and research on scientific journals.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 you for your attention!</a:t>
            </a:r>
          </a:p>
        </p:txBody>
      </p:sp>
      <p:sp>
        <p:nvSpPr>
          <p:cNvPr id="3" name="Content Placeholder 2"/>
          <p:cNvSpPr>
            <a:spLocks noGrp="1"/>
          </p:cNvSpPr>
          <p:nvPr>
            <p:ph idx="1"/>
          </p:nvPr>
        </p:nvSpPr>
        <p:spPr/>
        <p:txBody>
          <a:bodyPr/>
          <a:lstStyle/>
          <a:p>
            <a:pPr lvl="0" indent="0" marL="0">
              <a:buNone/>
            </a:pPr>
            <a:r>
              <a:rPr/>
              <a:t>Link to download the Firefox plugin:</a:t>
            </a:r>
          </a:p>
          <a:p>
            <a:pPr lvl="0" indent="0" marL="0">
              <a:buNone/>
            </a:pP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Bibliographie</a:t>
            </a:r>
          </a:p>
        </p:txBody>
      </p:sp>
      <p:sp>
        <p:nvSpPr>
          <p:cNvPr id="3" name="Content Placeholder 2"/>
          <p:cNvSpPr>
            <a:spLocks noGrp="1"/>
          </p:cNvSpPr>
          <p:nvPr>
            <p:ph idx="1"/>
          </p:nvPr>
        </p:nvSpPr>
        <p:spPr/>
        <p:txBody>
          <a:bodyPr/>
          <a:lstStyle/>
          <a:p>
            <a:pPr lvl="0" indent="0" marL="0">
              <a:buNone/>
            </a:pPr>
            <a:r>
              <a:rPr/>
              <a:t>Archambault, Susan, and José Rincón. 2024. “An Evaluation of Cutting-Edge AI Research Tools Using the REACT Framework.” </a:t>
            </a:r>
            <a:r>
              <a:rPr i="1"/>
              <a:t>Computers in Libraries</a:t>
            </a:r>
            <a:r>
              <a:rPr/>
              <a:t> 44 (8).</a:t>
            </a:r>
          </a:p>
          <a:p>
            <a:pPr lvl="0" indent="0" marL="0">
              <a:buNone/>
            </a:pPr>
            <a:r>
              <a:rPr/>
              <a:t>DeRewal, Tiffany. 2025. “Evaluating LLM ‘Research Assistants’ and Their Risks for Novice Researchers.” </a:t>
            </a:r>
            <a:r>
              <a:rPr i="1"/>
              <a:t>Critical AI</a:t>
            </a:r>
            <a:r>
              <a:rPr/>
              <a:t> 3 (2). </a:t>
            </a:r>
            <a:r>
              <a:rPr>
                <a:hlinkClick r:id="rId2"/>
              </a:rPr>
              <a:t>https://doi.org/10.1215/2834703X-12095982</a:t>
            </a:r>
            <a:r>
              <a:rPr/>
              <a:t>.</a:t>
            </a:r>
          </a:p>
          <a:p>
            <a:pPr lvl="0" indent="0" marL="0">
              <a:buNone/>
            </a:pPr>
            <a:r>
              <a:rPr/>
              <a:t>Dijkstra, Jaap J., Wim B. G. Liebrand, and Ellen Timminga. 1998. “Persuasiveness of Expert Systems.” </a:t>
            </a:r>
            <a:r>
              <a:rPr i="1"/>
              <a:t>Behaviour &amp; Information Technology</a:t>
            </a:r>
            <a:r>
              <a:rPr/>
              <a:t> 17 (3): 155–63. </a:t>
            </a:r>
            <a:r>
              <a:rPr>
                <a:hlinkClick r:id="rId3"/>
              </a:rPr>
              <a:t>https://doi.org/10.1080/014492998119526</a:t>
            </a:r>
            <a:r>
              <a:rPr/>
              <a:t>.</a:t>
            </a:r>
          </a:p>
          <a:p>
            <a:pPr lvl="0" indent="0" marL="0">
              <a:buNone/>
            </a:pPr>
            <a:r>
              <a:rPr/>
              <a:t>Ettinger, Allyson, Jena D. Hwang, Valentina Pyatkin, Chandra Bhagavatula, and Yejin Choi. 2023. “"You Are An Expert Linguistic Annotator": Limits of LLMs as Analyzers of Abstract Meaning Representation.” In </a:t>
            </a:r>
            <a:r>
              <a:rPr i="1"/>
              <a:t>EMNLP 2023 Findings</a:t>
            </a:r>
            <a:r>
              <a:rPr/>
              <a:t>. arXiv. </a:t>
            </a:r>
            <a:r>
              <a:rPr>
                <a:hlinkClick r:id="rId4"/>
              </a:rPr>
              <a:t>https://doi.org/10.48550/ARXIV.2310.17793</a:t>
            </a:r>
            <a:r>
              <a:rPr/>
              <a:t>.</a:t>
            </a:r>
          </a:p>
          <a:p>
            <a:pPr lvl="0" indent="0" marL="0">
              <a:buNone/>
            </a:pPr>
            <a:r>
              <a:rPr/>
              <a:t>Finn, Finola, Donal Khosrowi, Caio Mello, Marten Düring, and Danielle Guido. 2026. “Shaping History, Responsibly: Seven Principles to Guide the Design of Archival AI Assistants for Cultural Heritage Collections.” In </a:t>
            </a:r>
            <a:r>
              <a:rPr i="1"/>
              <a:t>ACM FAccT</a:t>
            </a:r>
            <a:r>
              <a:rPr/>
              <a:t>. Montréal.</a:t>
            </a:r>
          </a:p>
          <a:p>
            <a:pPr lvl="0" indent="0" marL="0">
              <a:buNone/>
            </a:pPr>
            <a:r>
              <a:rPr/>
              <a:t>Lévy, Pierre. 2023. “Semantic Computing with IEML.” </a:t>
            </a:r>
            <a:r>
              <a:rPr i="1"/>
              <a:t>Collective Intelligence</a:t>
            </a:r>
            <a:r>
              <a:rPr/>
              <a:t> 2 (4): 26339137231207634. </a:t>
            </a:r>
            <a:r>
              <a:rPr>
                <a:hlinkClick r:id="rId5"/>
              </a:rPr>
              <a:t>https://doi.org/10.1177/26339137231207634</a:t>
            </a:r>
            <a:r>
              <a:rPr/>
              <a:t>.</a:t>
            </a:r>
          </a:p>
          <a:p>
            <a:pPr lvl="0" indent="0" marL="0">
              <a:buNone/>
            </a:pPr>
            <a:r>
              <a:rPr/>
              <a:t>Logg, Jennifer M., Julia A. Minson, and Don A. Moore. 2019. “Algorithm Appreciation: People Prefer Algorithmic to Human Judgment.” </a:t>
            </a:r>
            <a:r>
              <a:rPr i="1"/>
              <a:t>Organizational Behavior and Human Decision Processes</a:t>
            </a:r>
            <a:r>
              <a:rPr/>
              <a:t> 151 (March): 90–103. </a:t>
            </a:r>
            <a:r>
              <a:rPr>
                <a:hlinkClick r:id="rId6"/>
              </a:rPr>
              <a:t>https://doi.org/10.1016/j.obhdp.2018.12.005</a:t>
            </a:r>
            <a:r>
              <a:rPr/>
              <a:t>.</a:t>
            </a:r>
          </a:p>
          <a:p>
            <a:pPr lvl="0" indent="0" marL="0">
              <a:buNone/>
            </a:pPr>
            <a:r>
              <a:rPr/>
              <a:t>Martin, Kim, Brian Greenspan, and Anabel Quan-Haase. 2017. “STAK – Serendipitous Tool for Augmenting Knowledge: A Conceptual Tool for Bridging Digital and Physical Resources.” </a:t>
            </a:r>
            <a:r>
              <a:rPr i="1"/>
              <a:t>Digital Studies / Le Champ Numérique</a:t>
            </a:r>
            <a:r>
              <a:rPr/>
              <a:t> 6 (1). </a:t>
            </a:r>
            <a:r>
              <a:rPr>
                <a:hlinkClick r:id="rId7"/>
              </a:rPr>
              <a:t>https://doi.org/10.16995/dscn.265</a:t>
            </a:r>
            <a:r>
              <a:rPr/>
              <a:t>.</a:t>
            </a:r>
          </a:p>
          <a:p>
            <a:pPr lvl="0" indent="0" marL="0">
              <a:buNone/>
            </a:pPr>
            <a:r>
              <a:rPr/>
              <a:t>Merton, R. K. 1968. “</a:t>
            </a:r>
            <a:r>
              <a:rPr>
                <a:hlinkClick r:id="rId8"/>
              </a:rPr>
              <a:t>The Matthew Effect in Science. The Reward and Communication Systems of Science Are Considered</a:t>
            </a:r>
            <a:r>
              <a:rPr/>
              <a:t>.” </a:t>
            </a:r>
            <a:r>
              <a:rPr i="1"/>
              <a:t>Science (New York, N.Y.)</a:t>
            </a:r>
            <a:r>
              <a:rPr/>
              <a:t> 159 (3810): 56–63.</a:t>
            </a:r>
          </a:p>
          <a:p>
            <a:pPr lvl="0" indent="0" marL="0">
              <a:buNone/>
            </a:pPr>
            <a:r>
              <a:rPr/>
              <a:t>Narechania, Arpit, Alireza Karduni, Ryan Wesslen, and Emily Wall. 2022. “VITALITY: Promoting Serendipitous Discovery of Academic Literature with Transformers &amp; Visual Analytics.” </a:t>
            </a:r>
            <a:r>
              <a:rPr i="1"/>
              <a:t>IEEE Transactions on Visualization and Computer Graphics</a:t>
            </a:r>
            <a:r>
              <a:rPr/>
              <a:t> 28 (1): 486–96. </a:t>
            </a:r>
            <a:r>
              <a:rPr>
                <a:hlinkClick r:id="rId9"/>
              </a:rPr>
              <a:t>https://doi.org/10.1109/TVCG.2021.3114820</a:t>
            </a:r>
            <a:r>
              <a:rPr/>
              <a:t>.</a:t>
            </a:r>
          </a:p>
          <a:p>
            <a:pPr lvl="0" indent="0" marL="0">
              <a:buNone/>
            </a:pPr>
            <a:r>
              <a:rPr/>
              <a:t>Nielsen, Mathias Wullum, and Jens Peter Andersen. 2021. “Global Citation Inequality Is on the Rise.” </a:t>
            </a:r>
            <a:r>
              <a:rPr i="1"/>
              <a:t>Proceedings of the National Academy of Sciences</a:t>
            </a:r>
            <a:r>
              <a:rPr/>
              <a:t> 118 (7): e2012208118. </a:t>
            </a:r>
            <a:r>
              <a:rPr>
                <a:hlinkClick r:id="rId10"/>
              </a:rPr>
              <a:t>https://doi.org/10.1073/pnas.2012208118</a:t>
            </a:r>
            <a:r>
              <a:rPr/>
              <a:t>.</a:t>
            </a:r>
          </a:p>
          <a:p>
            <a:pPr lvl="0" indent="0" marL="0">
              <a:buNone/>
            </a:pPr>
            <a:r>
              <a:rPr/>
              <a:t>Patterson, Brandon, Carlos Flores, Nick Hauschild, and Jared Branch. 2025. “Which AI Tools Work Best for Research? Using Librarian and Student Perspectives to Inform a Rating Rubric.” </a:t>
            </a:r>
            <a:r>
              <a:rPr i="1"/>
              <a:t>Journal of Electronic Resources in Medical Libraries</a:t>
            </a:r>
            <a:r>
              <a:rPr/>
              <a:t> 22 (3): 133–38. </a:t>
            </a:r>
            <a:r>
              <a:rPr>
                <a:hlinkClick r:id="rId11"/>
              </a:rPr>
              <a:t>https://doi.org/10.1080/15424065.2025.2546052</a:t>
            </a:r>
            <a:r>
              <a:rPr/>
              <a:t>.</a:t>
            </a:r>
          </a:p>
          <a:p>
            <a:pPr lvl="0" indent="0" marL="0">
              <a:buNone/>
            </a:pPr>
            <a:r>
              <a:rPr/>
              <a:t>Portenoy, Jason, Marissa Radensky, Jevin D West, Eric Horvitz, Daniel S Weld, and Tom Hope. 2022. “Bursting Scientific Filter Bubbles: Boosting Innovation via Novel Author Discovery.” </a:t>
            </a:r>
            <a:r>
              <a:rPr i="1"/>
              <a:t>CHI Conference on Human Factors in Computing Systems</a:t>
            </a:r>
            <a:r>
              <a:rPr/>
              <a:t>, April, 1–13. </a:t>
            </a:r>
            <a:r>
              <a:rPr>
                <a:hlinkClick r:id="rId12"/>
              </a:rPr>
              <a:t>https://doi.org/10.1145/3491102.3501905</a:t>
            </a:r>
            <a:r>
              <a:rPr/>
              <a:t>.</a:t>
            </a:r>
          </a:p>
          <a:p>
            <a:pPr lvl="0" indent="0" marL="0">
              <a:buNone/>
            </a:pPr>
            <a:r>
              <a:rPr/>
              <a:t>Sacy, Antoine Silvestre De, Adam Faci, Léa Maronet, and Stéphane Pouyllau. 2025. “Lire à Différentes Échelles. Une Analyse Multiscalaire de La Retrieval-Augmented Generation En Sciences Humaines Et Sociales.” </a:t>
            </a:r>
            <a:r>
              <a:rPr i="1"/>
              <a:t>Humanités Numériques</a:t>
            </a:r>
            <a:r>
              <a:rPr/>
              <a:t> 12. </a:t>
            </a:r>
            <a:r>
              <a:rPr>
                <a:hlinkClick r:id="rId13"/>
              </a:rPr>
              <a:t>https://doi.org/10.4000/15icj</a:t>
            </a:r>
            <a:r>
              <a:rPr/>
              <a:t>.</a:t>
            </a:r>
          </a:p>
          <a:p>
            <a:pPr lvl="0" indent="0" marL="0">
              <a:buNone/>
            </a:pPr>
            <a:r>
              <a:rPr/>
              <a:t>Schneider, Alexia. 2026. “An Imperfect AI to Uphold Human Agency : Vindicating the ‘Yes but’ of This World.” Short {{Talk}}. Montréal.</a:t>
            </a:r>
          </a:p>
          <a:p>
            <a:pPr lvl="0" indent="0" marL="0">
              <a:buNone/>
            </a:pPr>
            <a:r>
              <a:rPr/>
              <a:t>Tay, Aaron. 2025. “The Reproducibility and Interpretability of Academic AI Search Engines Like Primo Research Assistant, Web of Science Research Assistant, Scopus AI and More.” Blog. </a:t>
            </a:r>
            <a:r>
              <a:rPr i="1"/>
              <a:t>Aaron Tay’s Musings about Librarianship</a:t>
            </a:r>
            <a:r>
              <a:rPr/>
              <a:t>.</a:t>
            </a:r>
          </a:p>
          <a:p>
            <a:pPr lvl="0" indent="0" marL="0">
              <a:buNone/>
            </a:pPr>
            <a:r>
              <a:rPr/>
              <a:t>Underwood, Ted. 2014. “Theorizing Research Practices We Forgot to Theorize Twenty Years Ago.” </a:t>
            </a:r>
            <a:r>
              <a:rPr i="1"/>
              <a:t>Representations</a:t>
            </a:r>
            <a:r>
              <a:rPr/>
              <a:t> 127 (1): 64–72. </a:t>
            </a:r>
            <a:r>
              <a:rPr>
                <a:hlinkClick r:id="rId14"/>
              </a:rPr>
              <a:t>https://doi.org/10.1525/rep.2014.127.1.64</a:t>
            </a:r>
            <a:r>
              <a:rPr/>
              <a:t>.</a:t>
            </a:r>
          </a:p>
          <a:p>
            <a:pPr lvl="0" indent="0" marL="0">
              <a:buNone/>
            </a:pPr>
            <a:r>
              <a:rPr/>
              <a:t>Varga, Attila. 2022. “The Narrowing of Literature Use and the Restricted Mobility of Papers in the Sciences.” </a:t>
            </a:r>
            <a:r>
              <a:rPr i="1"/>
              <a:t>Proceedings of the National Academy of Sciences</a:t>
            </a:r>
            <a:r>
              <a:rPr/>
              <a:t> 119 (17): e2117488119. </a:t>
            </a:r>
            <a:r>
              <a:rPr>
                <a:hlinkClick r:id="rId15"/>
              </a:rPr>
              <a:t>https://doi.org/10.1073/pnas.2117488119</a:t>
            </a:r>
            <a:r>
              <a:rPr/>
              <a:t>.</a:t>
            </a:r>
          </a:p>
          <a:p>
            <a:pPr lvl="0" indent="0" marL="0">
              <a:buNone/>
            </a:pPr>
            <a:r>
              <a:rPr/>
              <a:t>Vicente, Lucía, and Helena Matute. 2023. “Humans Inherit Artificial Intelligence Biases.” </a:t>
            </a:r>
            <a:r>
              <a:rPr i="1"/>
              <a:t>Scientific Reports</a:t>
            </a:r>
            <a:r>
              <a:rPr/>
              <a:t> 13 (1): 15737. </a:t>
            </a:r>
            <a:r>
              <a:rPr>
                <a:hlinkClick r:id="rId16"/>
              </a:rPr>
              <a:t>https://doi.org/10.1038/s41598-023-42384-8</a:t>
            </a:r>
            <a:r>
              <a:rPr/>
              <a: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Screenshots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etape1_ouverturePanel.png" id="0" name="Picture 1"/>
          <p:cNvPicPr>
            <a:picLocks noGrp="1" noChangeAspect="1"/>
          </p:cNvPicPr>
          <p:nvPr/>
        </p:nvPicPr>
        <p:blipFill>
          <a:blip r:embed="rId2"/>
          <a:stretch>
            <a:fillRect/>
          </a:stretch>
        </p:blipFill>
        <p:spPr bwMode="auto">
          <a:xfrm>
            <a:off x="1219200" y="1193800"/>
            <a:ext cx="6705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First step: from seed article, the panel opens and retrieves the article keywords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etape2_selectionConcept.png" id="0" name="Picture 1"/>
          <p:cNvPicPr>
            <a:picLocks noGrp="1" noChangeAspect="1"/>
          </p:cNvPicPr>
          <p:nvPr/>
        </p:nvPicPr>
        <p:blipFill>
          <a:blip r:embed="rId2"/>
          <a:stretch>
            <a:fillRect/>
          </a:stretch>
        </p:blipFill>
        <p:spPr bwMode="auto">
          <a:xfrm>
            <a:off x="1219200" y="1193800"/>
            <a:ext cx="6705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User can select a keyword already translated in IEML (in blue), displaying the grid containing concepts defining the keyword</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etape3_propositionTraduction2.png" id="0" name="Picture 1"/>
          <p:cNvPicPr>
            <a:picLocks noGrp="1" noChangeAspect="1"/>
          </p:cNvPicPr>
          <p:nvPr/>
        </p:nvPicPr>
        <p:blipFill>
          <a:blip r:embed="rId2"/>
          <a:stretch>
            <a:fillRect/>
          </a:stretch>
        </p:blipFill>
        <p:spPr bwMode="auto">
          <a:xfrm>
            <a:off x="1371600" y="1193800"/>
            <a:ext cx="6388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If the keyword hasn’t been translated a LLM translation is suggested (from the IEML dictionnary) and user can modify it</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etape4_validationTraduction.png" id="0" name="Picture 1"/>
          <p:cNvPicPr>
            <a:picLocks noGrp="1" noChangeAspect="1"/>
          </p:cNvPicPr>
          <p:nvPr/>
        </p:nvPicPr>
        <p:blipFill>
          <a:blip r:embed="rId2"/>
          <a:stretch>
            <a:fillRect/>
          </a:stretch>
        </p:blipFill>
        <p:spPr bwMode="auto">
          <a:xfrm>
            <a:off x="1219200" y="1193800"/>
            <a:ext cx="6705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After validation of the translation, the translation is added to the IEML database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etape5_selectionLogs.png" id="0" name="Picture 1"/>
          <p:cNvPicPr>
            <a:picLocks noGrp="1" noChangeAspect="1"/>
          </p:cNvPicPr>
          <p:nvPr/>
        </p:nvPicPr>
        <p:blipFill>
          <a:blip r:embed="rId2"/>
          <a:stretch>
            <a:fillRect/>
          </a:stretch>
        </p:blipFill>
        <p:spPr bwMode="auto">
          <a:xfrm>
            <a:off x="1219200" y="1193800"/>
            <a:ext cx="6705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User can build a query from selected concepts and keywords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etape6_affichageArticles.png" id="0" name="Picture 1"/>
          <p:cNvPicPr>
            <a:picLocks noGrp="1" noChangeAspect="1"/>
          </p:cNvPicPr>
          <p:nvPr/>
        </p:nvPicPr>
        <p:blipFill>
          <a:blip r:embed="rId2"/>
          <a:stretch>
            <a:fillRect/>
          </a:stretch>
        </p:blipFill>
        <p:spPr bwMode="auto">
          <a:xfrm>
            <a:off x="1219200" y="1193800"/>
            <a:ext cx="6718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The query returns 2 lists of articles, one from the keywords selected and one from a query augmentation of those keywords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DH2026 - Reclaiming Epistemic Agency in AI-Assisted Research: A Recommender System That Reveals, Rather Than Hides, IR Logic</dc:title>
  <dc:creator>Alexia Schneider; Marcello Vitali-Rosati; Pierre Levy</dc:creator>
  <cp:keywords/>
  <dcterms:created xsi:type="dcterms:W3CDTF">2026-09-24T15:28:12Z</dcterms:created>
  <dcterms:modified xsi:type="dcterms:W3CDTF">2026-09-24T15:28:12Z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../phd_udem.bib</vt:lpwstr>
  </property>
  <property fmtid="{D5CDD505-2E9C-101B-9397-08002B2CF9AE}" pid="5" name="by-author">
    <vt:lpwstr/>
  </property>
  <property fmtid="{D5CDD505-2E9C-101B-9397-08002B2CF9AE}" pid="6" name="colorlinks">
    <vt:lpwstr>True</vt:lpwstr>
  </property>
  <property fmtid="{D5CDD505-2E9C-101B-9397-08002B2CF9AE}" pid="7" name="date">
    <vt:lpwstr>2026-07-30</vt:lpwstr>
  </property>
  <property fmtid="{D5CDD505-2E9C-101B-9397-08002B2CF9AE}" pid="8" name="fig-cap-location">
    <vt:lpwstr>bottom</vt:lpwstr>
  </property>
  <property fmtid="{D5CDD505-2E9C-101B-9397-08002B2CF9AE}" pid="9" name="footer">
    <vt:lpwstr>Alexia Schneider - 2026</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ink-citations">
    <vt:lpwstr>True</vt:lpwstr>
  </property>
  <property fmtid="{D5CDD505-2E9C-101B-9397-08002B2CF9AE}" pid="15" name="logo">
    <vt:lpwstr>img/stickerAvecTexte.png</vt:lpwstr>
  </property>
  <property fmtid="{D5CDD505-2E9C-101B-9397-08002B2CF9AE}" pid="16" name="resources">
    <vt:lpwstr/>
  </property>
  <property fmtid="{D5CDD505-2E9C-101B-9397-08002B2CF9AE}" pid="17" name="scrollable">
    <vt:lpwstr>True</vt:lpwstr>
  </property>
  <property fmtid="{D5CDD505-2E9C-101B-9397-08002B2CF9AE}" pid="18" name="slide-number">
    <vt:lpwstr>True</vt:lpwstr>
  </property>
  <property fmtid="{D5CDD505-2E9C-101B-9397-08002B2CF9AE}" pid="19" name="smaller">
    <vt:lpwstr>True</vt:lpwstr>
  </property>
  <property fmtid="{D5CDD505-2E9C-101B-9397-08002B2CF9AE}" pid="20" name="toc-title">
    <vt:lpwstr>Table of contents</vt:lpwstr>
  </property>
</Properties>
</file>