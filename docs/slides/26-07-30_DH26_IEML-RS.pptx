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mpg4" ContentType="video/mp4"/>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4" Type="http://schemas.openxmlformats.org/officeDocument/2006/relationships/hyperlink" Target="https://ieml.intlekt.io/" TargetMode="External" /><Relationship Id="rId6" Type="http://schemas.openxmlformats.org/officeDocument/2006/relationships/image" Target="../media/image6.png" /><Relationship Id="rId5" Type="http://schemas.openxmlformats.org/officeDocument/2006/relationships/image" Target="../media/image5.png" /><Relationship Id="rId3" Type="http://schemas.openxmlformats.org/officeDocument/2006/relationships/image" Target="../media/image4.png"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mpg4"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6339137231207634" TargetMode="External" /><Relationship Id="rId3" Type="http://schemas.openxmlformats.org/officeDocument/2006/relationships/hyperlink" Target="https://doi.org/10.16995/dscn.265" TargetMode="External" /><Relationship Id="rId4" Type="http://schemas.openxmlformats.org/officeDocument/2006/relationships/hyperlink" Target="https://www.ncbi.nlm.nih.gov/pubmed/5634379" TargetMode="External" /><Relationship Id="rId5" Type="http://schemas.openxmlformats.org/officeDocument/2006/relationships/hyperlink" Target="https://doi.org/10.1109/TVCG.2021.3114820" TargetMode="External" /><Relationship Id="rId6" Type="http://schemas.openxmlformats.org/officeDocument/2006/relationships/hyperlink" Target="https://doi.org/10.1073/pnas.2012208118" TargetMode="External" /><Relationship Id="rId7" Type="http://schemas.openxmlformats.org/officeDocument/2006/relationships/hyperlink" Target="https://doi.org/10.1080/15424065.2025.2546052" TargetMode="External" /><Relationship Id="rId8" Type="http://schemas.openxmlformats.org/officeDocument/2006/relationships/hyperlink" Target="https://doi.org/10.1145/3491102.3501905" TargetMode="External" /><Relationship Id="rId9" Type="http://schemas.openxmlformats.org/officeDocument/2006/relationships/hyperlink" Target="https://doi.org/10.4000/15icj" TargetMode="External" /><Relationship Id="rId10" Type="http://schemas.openxmlformats.org/officeDocument/2006/relationships/hyperlink" Target="https://doi.org/10.1525/rep.2014.127.1.64" TargetMode="External" /><Relationship Id="rId11" Type="http://schemas.openxmlformats.org/officeDocument/2006/relationships/hyperlink" Target="https://doi.org/10.1073/pnas.2117488119"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DH2026 - Reclaiming Epistemic Agency in AI-Assisted Research: A Recommender System That Reveals, Rather Than Hides, IR Logic</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Alexia Schneider</a:t>
            </a:r>
            <a:br/>
            <a:r>
              <a:rPr/>
              <a:t>Marcello Vitali-Rosati</a:t>
            </a:r>
            <a:br/>
            <a:r>
              <a:rPr/>
              <a:t>Pierre Levy</a:t>
            </a:r>
          </a:p>
        </p:txBody>
      </p:sp>
      <p:sp>
        <p:nvSpPr>
          <p:cNvPr id="4" name="Date Placeholder 3"/>
          <p:cNvSpPr>
            <a:spLocks noGrp="1"/>
          </p:cNvSpPr>
          <p:nvPr>
            <p:ph idx="10" sz="half" type="dt"/>
          </p:nvPr>
        </p:nvSpPr>
        <p:spPr/>
        <p:txBody>
          <a:bodyPr/>
          <a:lstStyle/>
          <a:p>
            <a:pPr lvl="0" indent="0" marL="0">
              <a:buNone/>
            </a:pPr>
            <a:r>
              <a:rPr/>
              <a:t>2026-05-22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Presentation outline</a:t>
            </a:r>
          </a:p>
        </p:txBody>
      </p:sp>
      <p:sp>
        <p:nvSpPr>
          <p:cNvPr id="3" name="Content Placeholder 2"/>
          <p:cNvSpPr>
            <a:spLocks noGrp="1"/>
          </p:cNvSpPr>
          <p:nvPr>
            <p:ph idx="1"/>
          </p:nvPr>
        </p:nvSpPr>
        <p:spPr/>
        <p:txBody>
          <a:bodyPr/>
          <a:lstStyle/>
          <a:p>
            <a:pPr lvl="0"/>
            <a:r>
              <a:rPr/>
              <a:t>Introduction</a:t>
            </a:r>
            <a:br/>
          </a:p>
          <a:p>
            <a:pPr lvl="0"/>
            <a:r>
              <a:rPr/>
              <a:t>brief SOTA</a:t>
            </a:r>
          </a:p>
          <a:p>
            <a:pPr lvl="0"/>
            <a:r>
              <a:rPr/>
              <a:t>Demonstration</a:t>
            </a:r>
          </a:p>
          <a:p>
            <a:pPr lvl="0"/>
            <a:r>
              <a:rPr/>
              <a:t>Evaluation</a:t>
            </a:r>
            <a:br/>
          </a:p>
          <a:p>
            <a:pPr lvl="0"/>
            <a:r>
              <a:rPr/>
              <a:t>Conclusion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b="1"/>
              <a:t>Context:</a:t>
            </a:r>
            <a:r>
              <a:rPr/>
              <a:t> Scientific documentary research.</a:t>
            </a:r>
          </a:p>
          <a:p>
            <a:pPr lvl="0" indent="0" marL="0">
              <a:buNone/>
            </a:pPr>
            <a:r>
              <a:rPr/>
              <a:t>Recommendation systems have transformed: from algorithms that extracted “you might also like” suggestions alongside search engine results to tools that support natural language queries.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isidore_recommandations.png" id="0" name="Picture 1"/>
          <p:cNvPicPr>
            <a:picLocks noGrp="1" noChangeAspect="1"/>
          </p:cNvPicPr>
          <p:nvPr/>
        </p:nvPicPr>
        <p:blipFill>
          <a:blip r:embed="rId2"/>
          <a:stretch>
            <a:fillRect/>
          </a:stretch>
        </p:blipFill>
        <p:spPr bwMode="auto">
          <a:xfrm>
            <a:off x="2844800" y="1193800"/>
            <a:ext cx="3467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of Isidore and standard suggested article functions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undermindai.png" id="0" name="Picture 1"/>
          <p:cNvPicPr>
            <a:picLocks noGrp="1" noChangeAspect="1"/>
          </p:cNvPicPr>
          <p:nvPr/>
        </p:nvPicPr>
        <p:blipFill>
          <a:blip r:embed="rId2"/>
          <a:stretch>
            <a:fillRect/>
          </a:stretch>
        </p:blipFill>
        <p:spPr bwMode="auto">
          <a:xfrm>
            <a:off x="1143000" y="1193800"/>
            <a:ext cx="684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of Undermind.ai. Support for natural language queries, combining all research steps (retrieval, ranking, synthesis)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Statement</a:t>
            </a:r>
          </a:p>
        </p:txBody>
      </p:sp>
      <p:sp>
        <p:nvSpPr>
          <p:cNvPr id="3" name="Content Placeholder 2"/>
          <p:cNvSpPr>
            <a:spLocks noGrp="1"/>
          </p:cNvSpPr>
          <p:nvPr>
            <p:ph idx="1"/>
          </p:nvPr>
        </p:nvSpPr>
        <p:spPr/>
        <p:txBody>
          <a:bodyPr/>
          <a:lstStyle/>
          <a:p>
            <a:pPr lvl="0"/>
            <a:r>
              <a:rPr/>
              <a:t>Citation concentration (Matthew effect (Merton 1968)), filter bubbles (Pariser 2011), and confirmation bias (Underwood 2014): reduction of the epistemic space for discovery (Nielsen and Andersen 2021; Varga 2022).</a:t>
            </a:r>
          </a:p>
          <a:p>
            <a:pPr lvl="0"/>
            <a:r>
              <a:rPr/>
              <a:t>Opacity of ranking, filtering, and synthesis (when applicable) (Archambault and Rincón 2024; Patterson et al. 2025; Tay 2025).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 Question</a:t>
            </a:r>
          </a:p>
        </p:txBody>
      </p:sp>
      <p:sp>
        <p:nvSpPr>
          <p:cNvPr id="3" name="Content Placeholder 2"/>
          <p:cNvSpPr>
            <a:spLocks noGrp="1"/>
          </p:cNvSpPr>
          <p:nvPr>
            <p:ph idx="1"/>
          </p:nvPr>
        </p:nvSpPr>
        <p:spPr/>
        <p:txBody>
          <a:bodyPr/>
          <a:lstStyle/>
          <a:p>
            <a:pPr lvl="0" indent="0" marL="0">
              <a:buNone/>
            </a:pPr>
            <a:r>
              <a:rPr/>
              <a:t>How can we design explainable systems situated at the center of an environment that fosters critical exploration and enables intellectual engagement with the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Examples of Alternative Recommendation Systems</a:t>
            </a:r>
          </a:p>
        </p:txBody>
      </p:sp>
      <p:sp>
        <p:nvSpPr>
          <p:cNvPr id="3" name="Content Placeholder 2"/>
          <p:cNvSpPr>
            <a:spLocks noGrp="1"/>
          </p:cNvSpPr>
          <p:nvPr>
            <p:ph idx="1"/>
          </p:nvPr>
        </p:nvSpPr>
        <p:spPr/>
        <p:txBody>
          <a:bodyPr/>
          <a:lstStyle/>
          <a:p>
            <a:pPr lvl="0"/>
            <a:r>
              <a:rPr>
                <a:latin typeface="Courier"/>
              </a:rPr>
              <a:t>Bridger</a:t>
            </a:r>
            <a:r>
              <a:rPr/>
              <a:t> by Portenoy et al. (2022) exposes researchers to authors outside their usual intellectual networks to promote disciplinary cross-pollination.</a:t>
            </a:r>
          </a:p>
          <a:p>
            <a:pPr lvl="0"/>
            <a:r>
              <a:rPr>
                <a:latin typeface="Courier"/>
              </a:rPr>
              <a:t>VITALITY</a:t>
            </a:r>
            <a:r>
              <a:rPr/>
              <a:t> by Narechania et al. (2022) proposes a literature review approach based on visualization.</a:t>
            </a:r>
          </a:p>
          <a:p>
            <a:pPr lvl="0"/>
            <a:r>
              <a:rPr>
                <a:latin typeface="Courier"/>
              </a:rPr>
              <a:t>STAK</a:t>
            </a:r>
            <a:r>
              <a:rPr/>
              <a:t> by Martin, Greenspan, and Quan-Haase (2017) was inspired by the material affordances of physical libraries, attempting to recreate spatialized navigation environments.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IEML</a:t>
            </a:r>
          </a:p>
        </p:txBody>
      </p:sp>
      <p:sp>
        <p:nvSpPr>
          <p:cNvPr id="4" name="Text Placeholder 3"/>
          <p:cNvSpPr>
            <a:spLocks noGrp="1"/>
          </p:cNvSpPr>
          <p:nvPr>
            <p:ph idx="2" sz="half" type="body"/>
          </p:nvPr>
        </p:nvSpPr>
        <p:spPr/>
        <p:txBody>
          <a:bodyPr/>
          <a:lstStyle/>
          <a:p>
            <a:pPr lvl="0" indent="0" marL="0">
              <a:buNone/>
            </a:pPr>
            <a:r>
              <a:rPr/>
              <a:t>Information Economy MetaLanguage (IEML) (Lévy 2023) != YAML</a:t>
            </a:r>
          </a:p>
        </p:txBody>
      </p:sp>
      <p:pic>
        <p:nvPicPr>
          <p:cNvPr descr="img/ieml_decomposition_table.png" id="0" name="Picture 1"/>
          <p:cNvPicPr>
            <a:picLocks noGrp="1" noChangeAspect="1"/>
          </p:cNvPicPr>
          <p:nvPr/>
        </p:nvPicPr>
        <p:blipFill>
          <a:blip r:embed="rId2"/>
          <a:stretch>
            <a:fillRect/>
          </a:stretch>
        </p:blipFill>
        <p:spPr bwMode="auto">
          <a:xfrm>
            <a:off x="4381500" y="203200"/>
            <a:ext cx="3479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IEML decomposition matrix based on 9 semantic facets</a:t>
            </a:r>
          </a:p>
        </p:txBody>
      </p:sp>
      <p:pic>
        <p:nvPicPr>
          <p:cNvPr descr="img/iemlgrid.png" id="0" name="Picture 1"/>
          <p:cNvPicPr>
            <a:picLocks noGrp="1" noChangeAspect="1"/>
          </p:cNvPicPr>
          <p:nvPr/>
        </p:nvPicPr>
        <p:blipFill>
          <a:blip r:embed="rId3"/>
          <a:stretch>
            <a:fillRect/>
          </a:stretch>
        </p:blipFill>
        <p:spPr bwMode="auto">
          <a:xfrm>
            <a:off x="3784600" y="203200"/>
            <a:ext cx="46736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Visualization of the grid in the IEML-RS plugin</a:t>
            </a:r>
          </a:p>
        </p:txBody>
      </p:sp>
      <p:sp>
        <p:nvSpPr>
          <p:cNvPr id="3" name="Content Placeholder 2"/>
          <p:cNvSpPr>
            <a:spLocks noGrp="1"/>
          </p:cNvSpPr>
          <p:nvPr>
            <p:ph idx="1"/>
          </p:nvPr>
        </p:nvSpPr>
        <p:spPr/>
        <p:txBody>
          <a:bodyPr/>
          <a:lstStyle/>
          <a:p>
            <a:pPr lvl="0" indent="0" marL="0">
              <a:buNone/>
            </a:pPr>
            <a:r>
              <a:rPr/>
              <a:t>Dictionary of terms translated into IEML </a:t>
            </a:r>
            <a:r>
              <a:rPr>
                <a:hlinkClick r:id="rId4"/>
              </a:rPr>
              <a:t>https://ieml.intlekt.io/</a:t>
            </a:r>
          </a:p>
          <a:p>
            <a:pPr lvl="0" indent="0" marL="0">
              <a:buNone/>
            </a:pPr>
            <a:r>
              <a:rPr/>
              <a:t>E (emptiness), U (virtual), A (actual), S (sign), B (being), and T (thing).</a:t>
            </a:r>
          </a:p>
          <a:p>
            <a:pPr lvl="0" indent="0" marL="0">
              <a:buNone/>
            </a:pPr>
            <a:r>
              <a:rPr/>
              <a:t>Lowercase letters: combinations of two primitives: 26 symbols.</a:t>
            </a:r>
          </a:p>
          <a:p>
            <a:pPr lvl="0" indent="0" marL="0">
              <a:buNone/>
            </a:pPr>
            <a:r>
              <a:rPr/>
              <a:t>Punctuation: represents one of the six layers of the concept.</a:t>
            </a:r>
          </a:p>
          <a:p>
            <a:pPr lvl="0" indent="0" marL="0">
              <a:buNone/>
            </a:pPr>
            <a:r>
              <a:rPr/>
              <a:t>Each layer is represented by a triad following the syntax: substance (role 1), attribute (role 2), and mode (role 3).</a:t>
            </a:r>
          </a:p>
        </p:txBody>
      </p:sp>
      <p:pic>
        <p:nvPicPr>
          <p:cNvPr descr="img/ieml-declinaison-lettre-M.png" id="0" name="Picture 1"/>
          <p:cNvPicPr>
            <a:picLocks noGrp="1" noChangeAspect="1"/>
          </p:cNvPicPr>
          <p:nvPr/>
        </p:nvPicPr>
        <p:blipFill>
          <a:blip r:embed="rId5"/>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Modulation of the primitive M</a:t>
            </a:r>
          </a:p>
        </p:txBody>
      </p:sp>
      <p:pic>
        <p:nvPicPr>
          <p:cNvPr descr="img/ieml_melodie_paradigme.png" id="0" name="Picture 1"/>
          <p:cNvPicPr>
            <a:picLocks noGrp="1" noChangeAspect="1"/>
          </p:cNvPicPr>
          <p:nvPr/>
        </p:nvPicPr>
        <p:blipFill>
          <a:blip r:embed="rId6"/>
          <a:stretch>
            <a:fillRect/>
          </a:stretch>
        </p:blipFill>
        <p:spPr bwMode="auto">
          <a:xfrm>
            <a:off x="3568700" y="1054100"/>
            <a:ext cx="5105400" cy="2184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Table of the semiotic functions paradigm (selection around the concept of “melody”)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demo_ieml-rs.mp4"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Demonstration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Main Features</a:t>
            </a:r>
          </a:p>
        </p:txBody>
      </p:sp>
      <p:sp>
        <p:nvSpPr>
          <p:cNvPr id="3" name="Content Placeholder 2"/>
          <p:cNvSpPr>
            <a:spLocks noGrp="1"/>
          </p:cNvSpPr>
          <p:nvPr>
            <p:ph idx="1"/>
          </p:nvPr>
        </p:nvSpPr>
        <p:spPr/>
        <p:txBody>
          <a:bodyPr/>
          <a:lstStyle/>
          <a:p>
            <a:pPr lvl="0"/>
            <a:r>
              <a:rPr/>
              <a:t>Exploration of an expanded semantic field thanks to IEML starting from a keyword.</a:t>
            </a:r>
          </a:p>
          <a:p>
            <a:pPr lvl="0"/>
            <a:r>
              <a:rPr/>
              <a:t>Automatic generation and correction (</a:t>
            </a:r>
            <a:r>
              <a:rPr i="1"/>
              <a:t>human-in-the-loop</a:t>
            </a:r>
            <a:r>
              <a:rPr/>
              <a:t>) of missing translations.</a:t>
            </a:r>
          </a:p>
          <a:p>
            <a:pPr lvl="0"/>
            <a:r>
              <a:rPr/>
              <a:t>Construction of a query sent to Isidore.</a:t>
            </a:r>
          </a:p>
          <a:p>
            <a:pPr lvl="0"/>
            <a:r>
              <a:rPr/>
              <a:t>Comparison of article lists sent based on a simple query and an LLM-augmented query.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Prompts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“Translation” Prompt into IEML</a:t>
            </a:r>
          </a:p>
        </p:txBody>
      </p:sp>
      <p:sp>
        <p:nvSpPr>
          <p:cNvPr id="3" name="Content Placeholder 2"/>
          <p:cNvSpPr>
            <a:spLocks noGrp="1"/>
          </p:cNvSpPr>
          <p:nvPr>
            <p:ph idx="1"/>
          </p:nvPr>
        </p:nvSpPr>
        <p:spPr/>
        <p:txBody>
          <a:bodyPr/>
          <a:lstStyle/>
          <a:p>
            <a:pPr lvl="0" indent="0">
              <a:buNone/>
            </a:pPr>
            <a:r>
              <a:rPr>
                <a:latin typeface="Courier"/>
              </a:rPr>
              <a:t>You are a semantics expert. You must semantically decompose the keyword "${keyword}" based on the following 9 values:
'theme, who, what, to whom, by what means, when, where, why, how'
## Examples
${examples}
## Dictionary Words
You must use the words below to define the keyword "${keyword}":
${context}
Your response must take the form of a CSV with 9 columns; the column headers are:
'theme, who, what, to whom, by what means, when, where, why, how'
It is not necessary to fill all fields. A field can remain empty between two commas, as in the examples.
Respond only with a final CSV line, without explanation.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Query Augmentation Prompt</a:t>
            </a:r>
          </a:p>
        </p:txBody>
      </p:sp>
      <p:sp>
        <p:nvSpPr>
          <p:cNvPr id="3" name="Content Placeholder 2"/>
          <p:cNvSpPr>
            <a:spLocks noGrp="1"/>
          </p:cNvSpPr>
          <p:nvPr>
            <p:ph idx="1"/>
          </p:nvPr>
        </p:nvSpPr>
        <p:spPr/>
        <p:txBody>
          <a:bodyPr/>
          <a:lstStyle/>
          <a:p>
            <a:pPr lvl="0" indent="0">
              <a:buNone/>
            </a:pPr>
            <a:r>
              <a:rPr>
                <a:latin typeface="Courier"/>
              </a:rPr>
              <a:t>Produce 10 variants of the following Boolean query "${keywords}". Combine the proposed queries using the OR operator as in the example: Keywords: "impact of climate change on biodiversity". Response: "
(climate change biodiversity impact) OR (effects of climate change on ecosystems) OR (biodiversity loss due to climate change) OR (climate change species extinction) OR (impact of global warming on wildlife) OR (effects of climate change on ecosystems and species diversity) OR (how climate change impacts wildlife and biodiversity) OR (climate change consequences for biological diversity) OR (relationship between climate change and loss of biodiversity) OR (climate change threats to flora and fauna diversity) OR (impact of climate change on biodiversity)
Now it is your turn with "${keywords}". Respond only with the query without giving any explanation.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Evaluations</a:t>
            </a:r>
          </a:p>
        </p:txBody>
      </p:sp>
      <p:sp>
        <p:nvSpPr>
          <p:cNvPr id="3" name="Content Placeholder 2"/>
          <p:cNvSpPr>
            <a:spLocks noGrp="1"/>
          </p:cNvSpPr>
          <p:nvPr>
            <p:ph idx="1"/>
          </p:nvPr>
        </p:nvSpPr>
        <p:spPr/>
        <p:txBody>
          <a:bodyPr/>
          <a:lstStyle/>
          <a:p>
            <a:pPr lvl="0"/>
            <a:r>
              <a:rPr/>
              <a:t>Quantitative evaluation of the translation produced by the LLM in IEML (RAG to anchor translations in IEML dictionary words).</a:t>
            </a:r>
          </a:p>
          <a:p>
            <a:pPr lvl="0"/>
            <a:r>
              <a:rPr/>
              <a:t>Qualitative evaluation (user study) of the application as a whole.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of Automatic Translation into IEML</a:t>
            </a:r>
          </a:p>
        </p:txBody>
      </p:sp>
      <p:sp>
        <p:nvSpPr>
          <p:cNvPr id="3" name="Content Placeholder 2"/>
          <p:cNvSpPr>
            <a:spLocks noGrp="1"/>
          </p:cNvSpPr>
          <p:nvPr>
            <p:ph idx="1"/>
          </p:nvPr>
        </p:nvSpPr>
        <p:spPr/>
        <p:txBody>
          <a:bodyPr/>
          <a:lstStyle/>
          <a:p>
            <a:pPr lvl="0" indent="0" marL="0">
              <a:buNone/>
            </a:pPr>
            <a:r>
              <a:rPr/>
              <a:t>Expected translation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Examples of translations produced by rag-llama-fewshot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Evaluation Summary</a:t>
            </a:r>
          </a:p>
        </p:txBody>
      </p:sp>
      <p:sp>
        <p:nvSpPr>
          <p:cNvPr id="4" name="Text Placeholder 3"/>
          <p:cNvSpPr>
            <a:spLocks noGrp="1"/>
          </p:cNvSpPr>
          <p:nvPr>
            <p:ph idx="2" sz="half" type="body"/>
          </p:nvPr>
        </p:nvSpPr>
        <p:spPr/>
        <p:txBody>
          <a:bodyPr/>
          <a:lstStyle/>
          <a:p>
            <a:pPr lvl="0" indent="0" marL="0">
              <a:buNone/>
            </a:pPr>
            <a:r>
              <a:rPr/>
              <a:t>Models (via Together AI API):</a:t>
            </a:r>
          </a:p>
          <a:p>
            <a:pPr lvl="0"/>
            <a:r>
              <a:rPr/>
              <a:t>Meta-Llama-3-70B-Instruct-Turbo</a:t>
            </a:r>
          </a:p>
          <a:p>
            <a:pPr lvl="0"/>
            <a:r>
              <a:rPr/>
              <a:t>Gemma-3n-E4B-it</a:t>
            </a:r>
          </a:p>
          <a:p>
            <a:pPr lvl="0"/>
            <a:r>
              <a:rPr/>
              <a:t>GPT-oss-20B</a:t>
            </a:r>
          </a:p>
        </p:txBody>
      </p:sp>
      <p:graphicFrame>
        <p:nvGraphicFramePr>
          <p:cNvPr id="6" name="Content Placeholder 5"/>
          <p:cNvGraphicFramePr>
            <a:graphicFrameLocks noGrp="1"/>
          </p:cNvGraphicFramePr>
          <p:nvPr>
            <p:ph idx="1"/>
          </p:nvPr>
        </p:nvGraphicFramePr>
        <p:xfrm>
          <a:off x="3568700" y="203200"/>
          <a:ext cx="5105400" cy="3873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model/strategy</a:t>
                      </a:r>
                    </a:p>
                  </a:txBody>
                  <a:tcPr/>
                </a:tc>
                <a:tc>
                  <a:txBody>
                    <a:bodyPr/>
                    <a:lstStyle/>
                    <a:p>
                      <a:pPr lvl="0" indent="0" marL="0">
                        <a:buNone/>
                      </a:pPr>
                      <a:r>
                        <a:rPr/>
                        <a:t>BLEU</a:t>
                      </a:r>
                    </a:p>
                  </a:txBody>
                  <a:tcPr/>
                </a:tc>
                <a:tc>
                  <a:txBody>
                    <a:bodyPr/>
                    <a:lstStyle/>
                    <a:p>
                      <a:pPr lvl="0" indent="0" marL="0">
                        <a:buNone/>
                      </a:pPr>
                      <a:r>
                        <a:rPr/>
                        <a:t>Cosine</a:t>
                      </a:r>
                    </a:p>
                  </a:txBody>
                  <a:tcPr/>
                </a:tc>
                <a:tc>
                  <a:txBody>
                    <a:bodyPr/>
                    <a:lstStyle/>
                    <a:p>
                      <a:pPr lvl="0" indent="0" marL="0">
                        <a:buNone/>
                      </a:pPr>
                      <a:r>
                        <a:rPr/>
                        <a:t>avg</a:t>
                      </a:r>
                    </a:p>
                  </a:txBody>
                  <a:tcPr/>
                </a:tc>
              </a:tr>
              <a:tr h="0">
                <a:tc>
                  <a:txBody>
                    <a:bodyPr/>
                    <a:lstStyle/>
                    <a:p>
                      <a:pPr lvl="0" indent="0" marL="0">
                        <a:buNone/>
                      </a:pPr>
                      <a:r>
                        <a:rPr/>
                        <a:t>baseline</a:t>
                      </a:r>
                    </a:p>
                  </a:txBody>
                </a:tc>
                <a:tc>
                  <a:txBody>
                    <a:bodyPr/>
                    <a:lstStyle/>
                    <a:p>
                      <a:pPr lvl="0" indent="0" marL="0">
                        <a:buNone/>
                      </a:pPr>
                      <a:r>
                        <a:rPr/>
                        <a:t>0.056</a:t>
                      </a:r>
                    </a:p>
                  </a:txBody>
                </a:tc>
                <a:tc>
                  <a:txBody>
                    <a:bodyPr/>
                    <a:lstStyle/>
                    <a:p>
                      <a:pPr lvl="0" indent="0" marL="0">
                        <a:buNone/>
                      </a:pPr>
                      <a:r>
                        <a:rPr/>
                        <a:t>0.515</a:t>
                      </a:r>
                    </a:p>
                  </a:txBody>
                </a:tc>
                <a:tc>
                  <a:txBody>
                    <a:bodyPr/>
                    <a:lstStyle/>
                    <a:p>
                      <a:pPr lvl="0" indent="0" marL="0">
                        <a:buNone/>
                      </a:pPr>
                      <a:r>
                        <a:rPr/>
                        <a:t>0.286</a:t>
                      </a:r>
                    </a:p>
                  </a:txBody>
                </a:tc>
              </a:tr>
              <a:tr h="0">
                <a:tc>
                  <a:txBody>
                    <a:bodyPr/>
                    <a:lstStyle/>
                    <a:p>
                      <a:pPr lvl="0" indent="0" marL="0">
                        <a:buNone/>
                      </a:pPr>
                      <a:r>
                        <a:rPr/>
                        <a:t>llama_fewshot</a:t>
                      </a:r>
                    </a:p>
                  </a:txBody>
                </a:tc>
                <a:tc>
                  <a:txBody>
                    <a:bodyPr/>
                    <a:lstStyle/>
                    <a:p>
                      <a:pPr lvl="0" indent="0" marL="0">
                        <a:buNone/>
                      </a:pPr>
                      <a:r>
                        <a:rPr b="1"/>
                        <a:t>0.0222</a:t>
                      </a:r>
                    </a:p>
                  </a:txBody>
                </a:tc>
                <a:tc>
                  <a:txBody>
                    <a:bodyPr/>
                    <a:lstStyle/>
                    <a:p>
                      <a:pPr lvl="0" indent="0" marL="0">
                        <a:buNone/>
                      </a:pPr>
                      <a:r>
                        <a:rPr b="1"/>
                        <a:t>0.555</a:t>
                      </a:r>
                    </a:p>
                  </a:txBody>
                </a:tc>
                <a:tc>
                  <a:txBody>
                    <a:bodyPr/>
                    <a:lstStyle/>
                    <a:p>
                      <a:pPr lvl="0" indent="0" marL="0">
                        <a:buNone/>
                      </a:pPr>
                      <a:r>
                        <a:rPr b="1"/>
                        <a:t>0.289</a:t>
                      </a:r>
                    </a:p>
                  </a:txBody>
                </a:tc>
              </a:tr>
              <a:tr h="0">
                <a:tc>
                  <a:txBody>
                    <a:bodyPr/>
                    <a:lstStyle/>
                    <a:p>
                      <a:pPr lvl="0" indent="0" marL="0">
                        <a:buNone/>
                      </a:pPr>
                      <a:r>
                        <a:rPr/>
                        <a:t>gemma_fewshot</a:t>
                      </a:r>
                    </a:p>
                  </a:txBody>
                </a:tc>
                <a:tc>
                  <a:txBody>
                    <a:bodyPr/>
                    <a:lstStyle/>
                    <a:p>
                      <a:pPr lvl="0" indent="0" marL="0">
                        <a:buNone/>
                      </a:pPr>
                      <a:r>
                        <a:rPr/>
                        <a:t>0.020</a:t>
                      </a:r>
                    </a:p>
                  </a:txBody>
                </a:tc>
                <a:tc>
                  <a:txBody>
                    <a:bodyPr/>
                    <a:lstStyle/>
                    <a:p>
                      <a:pPr lvl="0" indent="0" marL="0">
                        <a:buNone/>
                      </a:pPr>
                      <a:r>
                        <a:rPr/>
                        <a:t>0.491</a:t>
                      </a:r>
                    </a:p>
                  </a:txBody>
                </a:tc>
                <a:tc>
                  <a:txBody>
                    <a:bodyPr/>
                    <a:lstStyle/>
                    <a:p>
                      <a:pPr lvl="0" indent="0" marL="0">
                        <a:buNone/>
                      </a:pPr>
                      <a:r>
                        <a:rPr/>
                        <a:t>0.255</a:t>
                      </a:r>
                    </a:p>
                  </a:txBody>
                </a:tc>
              </a:tr>
              <a:tr h="0">
                <a:tc>
                  <a:txBody>
                    <a:bodyPr/>
                    <a:lstStyle/>
                    <a:p>
                      <a:pPr lvl="0" indent="0" marL="0">
                        <a:buNone/>
                      </a:pPr>
                      <a:r>
                        <a:rPr/>
                        <a:t>openai_fewshot</a:t>
                      </a:r>
                    </a:p>
                  </a:txBody>
                </a:tc>
                <a:tc>
                  <a:txBody>
                    <a:bodyPr/>
                    <a:lstStyle/>
                    <a:p>
                      <a:pPr lvl="0" indent="0" marL="0">
                        <a:buNone/>
                      </a:pPr>
                      <a:r>
                        <a:rPr/>
                        <a:t>0.0167</a:t>
                      </a:r>
                    </a:p>
                  </a:txBody>
                </a:tc>
                <a:tc>
                  <a:txBody>
                    <a:bodyPr/>
                    <a:lstStyle/>
                    <a:p>
                      <a:pPr lvl="0" indent="0" marL="0">
                        <a:buNone/>
                      </a:pPr>
                      <a:r>
                        <a:rPr/>
                        <a:t>0.498</a:t>
                      </a:r>
                    </a:p>
                  </a:txBody>
                </a:tc>
                <a:tc>
                  <a:txBody>
                    <a:bodyPr/>
                    <a:lstStyle/>
                    <a:p>
                      <a:pPr lvl="0" indent="0" marL="0">
                        <a:buNone/>
                      </a:pPr>
                      <a:r>
                        <a:rPr/>
                        <a:t>0.257</a:t>
                      </a:r>
                    </a:p>
                  </a:txBody>
                </a:tc>
              </a:tr>
              <a:tr h="0">
                <a:tc>
                  <a:txBody>
                    <a:bodyPr/>
                    <a:lstStyle/>
                    <a:p>
                      <a:pPr lvl="0" indent="0" marL="0">
                        <a:buNone/>
                      </a:pPr>
                      <a:r>
                        <a:rPr/>
                        <a:t>llama_zeroshot</a:t>
                      </a:r>
                    </a:p>
                  </a:txBody>
                </a:tc>
                <a:tc>
                  <a:txBody>
                    <a:bodyPr/>
                    <a:lstStyle/>
                    <a:p>
                      <a:pPr lvl="0" indent="0" marL="0">
                        <a:buNone/>
                      </a:pPr>
                      <a:r>
                        <a:rPr/>
                        <a:t>0.0129</a:t>
                      </a:r>
                    </a:p>
                  </a:txBody>
                </a:tc>
                <a:tc>
                  <a:txBody>
                    <a:bodyPr/>
                    <a:lstStyle/>
                    <a:p>
                      <a:pPr lvl="0" indent="0" marL="0">
                        <a:buNone/>
                      </a:pPr>
                      <a:r>
                        <a:rPr/>
                        <a:t>0.514</a:t>
                      </a:r>
                    </a:p>
                  </a:txBody>
                </a:tc>
                <a:tc>
                  <a:txBody>
                    <a:bodyPr/>
                    <a:lstStyle/>
                    <a:p>
                      <a:pPr lvl="0" indent="0" marL="0">
                        <a:buNone/>
                      </a:pPr>
                      <a:r>
                        <a:rPr/>
                        <a:t>0.263</a:t>
                      </a:r>
                    </a:p>
                  </a:txBody>
                </a:tc>
              </a:tr>
              <a:tr h="0">
                <a:tc>
                  <a:txBody>
                    <a:bodyPr/>
                    <a:lstStyle/>
                    <a:p>
                      <a:pPr lvl="0" indent="0" marL="0">
                        <a:buNone/>
                      </a:pPr>
                      <a:r>
                        <a:rPr/>
                        <a:t>gemma_zeroshot</a:t>
                      </a:r>
                    </a:p>
                  </a:txBody>
                </a:tc>
                <a:tc>
                  <a:txBody>
                    <a:bodyPr/>
                    <a:lstStyle/>
                    <a:p>
                      <a:pPr lvl="0" indent="0" marL="0">
                        <a:buNone/>
                      </a:pPr>
                      <a:r>
                        <a:rPr/>
                        <a:t>0.0160</a:t>
                      </a:r>
                    </a:p>
                  </a:txBody>
                </a:tc>
                <a:tc>
                  <a:txBody>
                    <a:bodyPr/>
                    <a:lstStyle/>
                    <a:p>
                      <a:pPr lvl="0" indent="0" marL="0">
                        <a:buNone/>
                      </a:pPr>
                      <a:r>
                        <a:rPr/>
                        <a:t>0.479</a:t>
                      </a:r>
                    </a:p>
                  </a:txBody>
                </a:tc>
                <a:tc>
                  <a:txBody>
                    <a:bodyPr/>
                    <a:lstStyle/>
                    <a:p>
                      <a:pPr lvl="0" indent="0" marL="0">
                        <a:buNone/>
                      </a:pPr>
                      <a:r>
                        <a:rPr/>
                        <a:t>0.248</a:t>
                      </a:r>
                    </a:p>
                  </a:txBody>
                </a:tc>
              </a:tr>
              <a:tr h="0">
                <a:tc>
                  <a:txBody>
                    <a:bodyPr/>
                    <a:lstStyle/>
                    <a:p>
                      <a:pPr lvl="0" indent="0" marL="0">
                        <a:buNone/>
                      </a:pPr>
                      <a:r>
                        <a:rPr/>
                        <a:t>openai_zeroshot</a:t>
                      </a:r>
                    </a:p>
                  </a:txBody>
                </a:tc>
                <a:tc>
                  <a:txBody>
                    <a:bodyPr/>
                    <a:lstStyle/>
                    <a:p>
                      <a:pPr lvl="0" indent="0" marL="0">
                        <a:buNone/>
                      </a:pPr>
                      <a:r>
                        <a:rPr/>
                        <a:t>0.016</a:t>
                      </a:r>
                    </a:p>
                  </a:txBody>
                </a:tc>
                <a:tc>
                  <a:txBody>
                    <a:bodyPr/>
                    <a:lstStyle/>
                    <a:p>
                      <a:pPr lvl="0" indent="0" marL="0">
                        <a:buNone/>
                      </a:pPr>
                      <a:r>
                        <a:rPr/>
                        <a:t>0.493</a:t>
                      </a:r>
                    </a:p>
                  </a:txBody>
                </a:tc>
                <a:tc>
                  <a:txBody>
                    <a:bodyPr/>
                    <a:lstStyle/>
                    <a:p>
                      <a:pPr lvl="0" indent="0" marL="0">
                        <a:buNone/>
                      </a:pPr>
                      <a:r>
                        <a:rPr/>
                        <a:t>0.254</a:t>
                      </a:r>
                    </a:p>
                  </a:txBody>
                </a:tc>
              </a:tr>
            </a:tbl>
          </a:graphicData>
        </a:graphic>
      </p:graphicFrame>
      <p:sp>
        <p:nvSpPr>
          <p:cNvPr id="1" name="TextBox 3"/>
          <p:cNvSpPr txBox="1"/>
          <p:nvPr/>
        </p:nvSpPr>
        <p:spPr>
          <a:xfrm>
            <a:off x="3568700" y="4076700"/>
            <a:ext cx="5105400" cy="508000"/>
          </a:xfrm>
          <a:prstGeom prst="rect">
            <a:avLst/>
          </a:prstGeom>
          <a:noFill/>
        </p:spPr>
        <p:txBody>
          <a:bodyPr/>
          <a:lstStyle/>
          <a:p>
            <a:pPr lvl="0" indent="0" marL="0" algn="ctr">
              <a:buNone/>
            </a:pPr>
            <a:r>
              <a:rPr/>
              <a:t>Table of model evaluation for automatic translation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context (i.e., dictionary entries) marginally improves performance.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Qualitative Evaluation of IEML-RS</a:t>
            </a:r>
          </a:p>
        </p:txBody>
      </p:sp>
      <p:sp>
        <p:nvSpPr>
          <p:cNvPr id="3" name="Content Placeholder 2"/>
          <p:cNvSpPr>
            <a:spLocks noGrp="1"/>
          </p:cNvSpPr>
          <p:nvPr>
            <p:ph idx="1"/>
          </p:nvPr>
        </p:nvSpPr>
        <p:spPr/>
        <p:txBody>
          <a:bodyPr/>
          <a:lstStyle/>
          <a:p>
            <a:pPr lvl="0" indent="0" marL="0">
              <a:buNone/>
            </a:pPr>
            <a:r>
              <a:rPr/>
              <a:t>6 users (PhD in Digital Humanities). Demonstration followed by 10 minutes of usage observation and a 15-minute interview.</a:t>
            </a:r>
          </a:p>
          <a:p>
            <a:pPr lvl="0" indent="0" marL="0">
              <a:buNone/>
            </a:pPr>
            <a:r>
              <a:rPr/>
              <a:t>Criteria:</a:t>
            </a:r>
          </a:p>
          <a:p>
            <a:pPr lvl="0"/>
            <a:r>
              <a:rPr/>
              <a:t>User-friendliness,</a:t>
            </a:r>
          </a:p>
          <a:p>
            <a:pPr lvl="0"/>
            <a:r>
              <a:rPr/>
              <a:t>Usefulness.</a:t>
            </a:r>
          </a:p>
          <a:p>
            <a:pPr lvl="0" indent="0" marL="0">
              <a:buNone/>
            </a:pPr>
            <a:r>
              <a:rPr/>
              <a:t>Features:</a:t>
            </a:r>
          </a:p>
          <a:p>
            <a:pPr lvl="0"/>
            <a:r>
              <a:rPr/>
              <a:t>Navigation (keywords and concepts),</a:t>
            </a:r>
          </a:p>
          <a:p>
            <a:pPr lvl="0"/>
            <a:r>
              <a:rPr/>
              <a:t>Translation into IEML,</a:t>
            </a:r>
          </a:p>
          <a:p>
            <a:pPr lvl="0"/>
            <a:r>
              <a:rPr/>
              <a:t>Comparison of article list panels.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User Study</a:t>
            </a:r>
          </a:p>
        </p:txBody>
      </p:sp>
      <p:sp>
        <p:nvSpPr>
          <p:cNvPr id="3" name="Content Placeholder 2"/>
          <p:cNvSpPr>
            <a:spLocks noGrp="1"/>
          </p:cNvSpPr>
          <p:nvPr>
            <p:ph idx="1"/>
          </p:nvPr>
        </p:nvSpPr>
        <p:spPr/>
        <p:txBody>
          <a:bodyPr/>
          <a:lstStyle/>
          <a:p>
            <a:pPr lvl="0"/>
            <a:r>
              <a:rPr b="1"/>
              <a:t>Ease of use</a:t>
            </a:r>
            <a:r>
              <a:rPr/>
              <a:t>:</a:t>
            </a:r>
          </a:p>
          <a:p>
            <a:pPr lvl="1"/>
            <a:r>
              <a:rPr/>
              <a:t>Confusion regarding the integration of concepts into the query,</a:t>
            </a:r>
          </a:p>
          <a:p>
            <a:pPr lvl="1"/>
            <a:r>
              <a:rPr/>
              <a:t>Automatic translation and validation: initial hurdle (limited database), </a:t>
            </a:r>
          </a:p>
          <a:p>
            <a:pPr lvl="0"/>
            <a:r>
              <a:rPr b="1"/>
              <a:t>Usefulness</a:t>
            </a:r>
            <a:r>
              <a:rPr/>
              <a:t>:</a:t>
            </a:r>
          </a:p>
          <a:p>
            <a:pPr lvl="1"/>
            <a:r>
              <a:rPr/>
              <a:t>Reveals strong disparities in user research practices (network and contextual IR vs. keyword search),</a:t>
            </a:r>
          </a:p>
          <a:p>
            <a:pPr lvl="1"/>
            <a:r>
              <a:rPr/>
              <a:t>Strength: comparative panels,</a:t>
            </a:r>
          </a:p>
          <a:p>
            <a:pPr lvl="1"/>
            <a:r>
              <a:rPr/>
              <a:t>Mixed-quality translation encourages </a:t>
            </a:r>
            <a:r>
              <a:rPr b="1"/>
              <a:t>user agency and dialogic and collaborative work with LLMs</a:t>
            </a:r>
            <a:r>
              <a:rPr/>
              <a:t> (Schneider 2026).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 and Perspectives</a:t>
            </a:r>
          </a:p>
        </p:txBody>
      </p:sp>
      <p:sp>
        <p:nvSpPr>
          <p:cNvPr id="3" name="Content Placeholder 2"/>
          <p:cNvSpPr>
            <a:spLocks noGrp="1"/>
          </p:cNvSpPr>
          <p:nvPr>
            <p:ph idx="1"/>
          </p:nvPr>
        </p:nvSpPr>
        <p:spPr/>
        <p:txBody>
          <a:bodyPr/>
          <a:lstStyle/>
          <a:p>
            <a:pPr lvl="0" indent="0" marL="0">
              <a:buNone/>
            </a:pPr>
            <a:r>
              <a:rPr/>
              <a:t>Example of an environment design fostering serendipity.</a:t>
            </a:r>
          </a:p>
          <a:p>
            <a:pPr lvl="0" indent="0" marL="0">
              <a:buNone/>
            </a:pPr>
            <a:r>
              <a:rPr/>
              <a:t>Tools being developed in Digital Humanities:</a:t>
            </a:r>
          </a:p>
          <a:p>
            <a:pPr lvl="0"/>
            <a:r>
              <a:rPr/>
              <a:t>Barista from the Impresso project: query building assistant (Finn et al. 2026),</a:t>
            </a:r>
          </a:p>
          <a:p>
            <a:pPr lvl="0"/>
            <a:r>
              <a:rPr/>
              <a:t>Ongoing developments at Isidore for RAG limited to specific use cases (Sacy et al. 2025),</a:t>
            </a:r>
          </a:p>
          <a:p>
            <a:pPr lvl="0"/>
            <a:r>
              <a:rPr/>
              <a:t>Evidence-RAG from the JDH (to assist in the evaluation of reviewer comments during the peer review process) (Guérard et al. 2026).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Acknowledgements</a:t>
            </a:r>
          </a:p>
        </p:txBody>
      </p:sp>
      <p:sp>
        <p:nvSpPr>
          <p:cNvPr id="3" name="Content Placeholder 2"/>
          <p:cNvSpPr>
            <a:spLocks noGrp="1"/>
          </p:cNvSpPr>
          <p:nvPr>
            <p:ph idx="1"/>
          </p:nvPr>
        </p:nvSpPr>
        <p:spPr/>
        <p:txBody>
          <a:bodyPr/>
          <a:lstStyle/>
          <a:p>
            <a:pPr lvl="0" indent="0" marL="0">
              <a:buNone/>
            </a:pPr>
            <a:r>
              <a:rPr/>
              <a:t>Research funded by the SSHRC through the Revue3.0 partnership project, as well as a fellowship from the Circé Network and the Publica Coalition for mutualization and research on scientific journals.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 for your attention!</a:t>
            </a:r>
          </a:p>
        </p:txBody>
      </p:sp>
      <p:sp>
        <p:nvSpPr>
          <p:cNvPr id="3" name="Content Placeholder 2"/>
          <p:cNvSpPr>
            <a:spLocks noGrp="1"/>
          </p:cNvSpPr>
          <p:nvPr>
            <p:ph idx="1"/>
          </p:nvPr>
        </p:nvSpPr>
        <p:spPr/>
        <p:txBody>
          <a:bodyPr/>
          <a:lstStyle/>
          <a:p>
            <a:pPr lvl="0" indent="0" marL="0">
              <a:buNone/>
            </a:pPr>
            <a:r>
              <a:rPr/>
              <a:t>Link to download the Firefox plugin:</a:t>
            </a:r>
          </a:p>
          <a:p>
            <a:pPr lvl="0" indent="0" marL="0">
              <a:buNone/>
            </a:pP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Bibliographie</a:t>
            </a:r>
          </a:p>
        </p:txBody>
      </p:sp>
      <p:sp>
        <p:nvSpPr>
          <p:cNvPr id="3" name="Content Placeholder 2"/>
          <p:cNvSpPr>
            <a:spLocks noGrp="1"/>
          </p:cNvSpPr>
          <p:nvPr>
            <p:ph idx="1"/>
          </p:nvPr>
        </p:nvSpPr>
        <p:spPr/>
        <p:txBody>
          <a:bodyPr/>
          <a:lstStyle/>
          <a:p>
            <a:pPr lvl="0" indent="0" marL="0">
              <a:buNone/>
            </a:pPr>
            <a:r>
              <a:rPr/>
              <a:t>Archambault, Susan, and José Rincón. 2024. “An Evaluation of Cutting-Edge AI Research Tools Using the REACT Framework.” </a:t>
            </a:r>
            <a:r>
              <a:rPr i="1"/>
              <a:t>Computers in Libraries</a:t>
            </a:r>
            <a:r>
              <a:rPr/>
              <a:t> 44 (8).</a:t>
            </a:r>
          </a:p>
          <a:p>
            <a:pPr lvl="0" indent="0" marL="0">
              <a:buNone/>
            </a:pPr>
            <a:r>
              <a:rPr/>
              <a:t>Finn, Finola, Donal Khosrowi, Caio Mello, Marten Düring, and Danielle Guido. 2026. “Shaping History, Responsibly: Seven Principles to Guide the Design of Archival AI Assistants for Cultural Heritage Collections.” In </a:t>
            </a:r>
            <a:r>
              <a:rPr i="1"/>
              <a:t>ACM FAccT</a:t>
            </a:r>
            <a:r>
              <a:rPr/>
              <a:t>. Montréal.</a:t>
            </a:r>
          </a:p>
          <a:p>
            <a:pPr lvl="0" indent="0" marL="0">
              <a:buNone/>
            </a:pPr>
            <a:r>
              <a:rPr/>
              <a:t>Guérard, Élisabeth, Mehrdad Almasi, Marion Salaün, and Frédéric Clavert. 2026. “Towards an Interactive ‘Evidence-RAG’ Peer- Review Workspace for the Journal of Digital History.” Long {{Talk}}. Esch-sur-Alzette.</a:t>
            </a:r>
          </a:p>
          <a:p>
            <a:pPr lvl="0" indent="0" marL="0">
              <a:buNone/>
            </a:pPr>
            <a:r>
              <a:rPr/>
              <a:t>Lévy, Pierre. 2023. “Semantic Computing with IEML.” </a:t>
            </a:r>
            <a:r>
              <a:rPr i="1"/>
              <a:t>Collective Intelligence</a:t>
            </a:r>
            <a:r>
              <a:rPr/>
              <a:t> 2 (4): 26339137231207634. </a:t>
            </a:r>
            <a:r>
              <a:rPr>
                <a:hlinkClick r:id="rId2"/>
              </a:rPr>
              <a:t>https://doi.org/10.1177/26339137231207634</a:t>
            </a:r>
            <a:r>
              <a:rPr/>
              <a:t>.</a:t>
            </a:r>
          </a:p>
          <a:p>
            <a:pPr lvl="0" indent="0" marL="0">
              <a:buNone/>
            </a:pPr>
            <a:r>
              <a:rPr/>
              <a:t>Martin, Kim, Brian Greenspan, and Anabel Quan-Haase. 2017. “STAK – Serendipitous Tool for Augmenting Knowledge: A Conceptual Tool for Bridging Digital and Physical Resources.” </a:t>
            </a:r>
            <a:r>
              <a:rPr i="1"/>
              <a:t>Digital Studies / Le Champ Numérique</a:t>
            </a:r>
            <a:r>
              <a:rPr/>
              <a:t> 6 (1). </a:t>
            </a:r>
            <a:r>
              <a:rPr>
                <a:hlinkClick r:id="rId3"/>
              </a:rPr>
              <a:t>https://doi.org/10.16995/dscn.265</a:t>
            </a:r>
            <a:r>
              <a:rPr/>
              <a:t>.</a:t>
            </a:r>
          </a:p>
          <a:p>
            <a:pPr lvl="0" indent="0" marL="0">
              <a:buNone/>
            </a:pPr>
            <a:r>
              <a:rPr/>
              <a:t>Merton, R. K. 1968. “</a:t>
            </a:r>
            <a:r>
              <a:rPr>
                <a:hlinkClick r:id="rId4"/>
              </a:rPr>
              <a:t>The Matthew Effect in Science. The Reward and Communication Systems of Science Are Considered</a:t>
            </a:r>
            <a:r>
              <a:rPr/>
              <a:t>.” </a:t>
            </a:r>
            <a:r>
              <a:rPr i="1"/>
              <a:t>Science (New York, N.Y.)</a:t>
            </a:r>
            <a:r>
              <a:rPr/>
              <a:t> 159 (3810): 56–63.</a:t>
            </a:r>
          </a:p>
          <a:p>
            <a:pPr lvl="0" indent="0" marL="0">
              <a:buNone/>
            </a:pPr>
            <a:r>
              <a:rPr/>
              <a:t>Narechania, Arpit, Alireza Karduni, Ryan Wesslen, and Emily Wall. 2022. “VITALITY: Promoting Serendipitous Discovery of Academic Literature with Transformers &amp; Visual Analytics.” </a:t>
            </a:r>
            <a:r>
              <a:rPr i="1"/>
              <a:t>IEEE Transactions on Visualization and Computer Graphics</a:t>
            </a:r>
            <a:r>
              <a:rPr/>
              <a:t> 28 (1): 486–96. </a:t>
            </a:r>
            <a:r>
              <a:rPr>
                <a:hlinkClick r:id="rId5"/>
              </a:rPr>
              <a:t>https://doi.org/10.1109/TVCG.2021.3114820</a:t>
            </a:r>
            <a:r>
              <a:rPr/>
              <a:t>.</a:t>
            </a:r>
          </a:p>
          <a:p>
            <a:pPr lvl="0" indent="0" marL="0">
              <a:buNone/>
            </a:pPr>
            <a:r>
              <a:rPr/>
              <a:t>Nielsen, Mathias Wullum, and Jens Peter Andersen. 2021. “Global Citation Inequality Is on the Rise.” </a:t>
            </a:r>
            <a:r>
              <a:rPr i="1"/>
              <a:t>Proceedings of the National Academy of Sciences</a:t>
            </a:r>
            <a:r>
              <a:rPr/>
              <a:t> 118 (7): e2012208118. </a:t>
            </a:r>
            <a:r>
              <a:rPr>
                <a:hlinkClick r:id="rId6"/>
              </a:rPr>
              <a:t>https://doi.org/10.1073/pnas.2012208118</a:t>
            </a:r>
            <a:r>
              <a:rPr/>
              <a:t>.</a:t>
            </a:r>
          </a:p>
          <a:p>
            <a:pPr lvl="0" indent="0" marL="0">
              <a:buNone/>
            </a:pPr>
            <a:r>
              <a:rPr/>
              <a:t>Pariser, Eli. 2011. “The Filter Bubble: What the Internet Is Hiding from You.” In.</a:t>
            </a:r>
          </a:p>
          <a:p>
            <a:pPr lvl="0" indent="0" marL="0">
              <a:buNone/>
            </a:pPr>
            <a:r>
              <a:rPr/>
              <a:t>Patterson, Brandon, Carlos Flores, Nick Hauschild, and Jared Branch. 2025. “Which AI Tools Work Best for Research? Using Librarian and Student Perspectives to Inform a Rating Rubric.” </a:t>
            </a:r>
            <a:r>
              <a:rPr i="1"/>
              <a:t>Journal of Electronic Resources in Medical Libraries</a:t>
            </a:r>
            <a:r>
              <a:rPr/>
              <a:t> 22 (3): 133–38. </a:t>
            </a:r>
            <a:r>
              <a:rPr>
                <a:hlinkClick r:id="rId7"/>
              </a:rPr>
              <a:t>https://doi.org/10.1080/15424065.2025.2546052</a:t>
            </a:r>
            <a:r>
              <a:rPr/>
              <a:t>.</a:t>
            </a:r>
          </a:p>
          <a:p>
            <a:pPr lvl="0" indent="0" marL="0">
              <a:buNone/>
            </a:pPr>
            <a:r>
              <a:rPr/>
              <a:t>Portenoy, Jason, Marissa Radensky, Jevin D West, Eric Horvitz, Daniel S Weld, and Tom Hope. 2022. “Bursting Scientific Filter Bubbles: Boosting Innovation via Novel Author Discovery.” </a:t>
            </a:r>
            <a:r>
              <a:rPr i="1"/>
              <a:t>CHI Conference on Human Factors in Computing Systems</a:t>
            </a:r>
            <a:r>
              <a:rPr/>
              <a:t>, April, 1–13. </a:t>
            </a:r>
            <a:r>
              <a:rPr>
                <a:hlinkClick r:id="rId8"/>
              </a:rPr>
              <a:t>https://doi.org/10.1145/3491102.3501905</a:t>
            </a:r>
            <a:r>
              <a:rPr/>
              <a:t>.</a:t>
            </a:r>
          </a:p>
          <a:p>
            <a:pPr lvl="0" indent="0" marL="0">
              <a:buNone/>
            </a:pPr>
            <a:r>
              <a:rPr/>
              <a:t>Sacy, Antoine Silvestre De, Adam Faci, Léa Maronet, and Stéphane Pouyllau. 2025. “Lire à Différentes Échelles. Une Analyse Multiscalaire de La Retrieval-Augmented Generation En Sciences Humaines Et Sociales.” </a:t>
            </a:r>
            <a:r>
              <a:rPr i="1"/>
              <a:t>Humanités Numériques</a:t>
            </a:r>
            <a:r>
              <a:rPr/>
              <a:t> 12. </a:t>
            </a:r>
            <a:r>
              <a:rPr>
                <a:hlinkClick r:id="rId9"/>
              </a:rPr>
              <a:t>https://doi.org/10.4000/15icj</a:t>
            </a:r>
            <a:r>
              <a:rPr/>
              <a:t>.</a:t>
            </a:r>
          </a:p>
          <a:p>
            <a:pPr lvl="0" indent="0" marL="0">
              <a:buNone/>
            </a:pPr>
            <a:r>
              <a:rPr/>
              <a:t>Schneider, Alexia. 2026. “An Imperfect AI to Uphold Human Agency : Vindicating the ‘Yes but’ of This World.” Short {{Talk}}. Montréal.</a:t>
            </a:r>
          </a:p>
          <a:p>
            <a:pPr lvl="0" indent="0" marL="0">
              <a:buNone/>
            </a:pPr>
            <a:r>
              <a:rPr/>
              <a:t>Tay, Aaron. 2025. “The Reproducibility and Interpretability of Academic AI Search Engines Like Primo Research Assistant, Web of Science Research Assistant, Scopus AI and More.” Blog. </a:t>
            </a:r>
            <a:r>
              <a:rPr i="1"/>
              <a:t>Aaron Tay’s Musings about Librarianship</a:t>
            </a:r>
            <a:r>
              <a:rPr/>
              <a:t>.</a:t>
            </a:r>
          </a:p>
          <a:p>
            <a:pPr lvl="0" indent="0" marL="0">
              <a:buNone/>
            </a:pPr>
            <a:r>
              <a:rPr/>
              <a:t>Underwood, Ted. 2014. “Theorizing Research Practices We Forgot to Theorize Twenty Years Ago.” </a:t>
            </a:r>
            <a:r>
              <a:rPr i="1"/>
              <a:t>Representations</a:t>
            </a:r>
            <a:r>
              <a:rPr/>
              <a:t> 127 (1): 64–72. </a:t>
            </a:r>
            <a:r>
              <a:rPr>
                <a:hlinkClick r:id="rId10"/>
              </a:rPr>
              <a:t>https://doi.org/10.1525/rep.2014.127.1.64</a:t>
            </a:r>
            <a:r>
              <a:rPr/>
              <a:t>.</a:t>
            </a:r>
          </a:p>
          <a:p>
            <a:pPr lvl="0" indent="0" marL="0">
              <a:buNone/>
            </a:pPr>
            <a:r>
              <a:rPr/>
              <a:t>Varga, Attila. 2022. “The Narrowing of Literature Use and the Restricted Mobility of Papers in the Sciences.” </a:t>
            </a:r>
            <a:r>
              <a:rPr i="1"/>
              <a:t>Proceedings of the National Academy of Sciences</a:t>
            </a:r>
            <a:r>
              <a:rPr/>
              <a:t> 119 (17): e2117488119. </a:t>
            </a:r>
            <a:r>
              <a:rPr>
                <a:hlinkClick r:id="rId11"/>
              </a:rPr>
              <a:t>https://doi.org/10.1073/pnas.2117488119</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Screenshots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1_ouverturePanel.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First step: from seed article, the panel opens and retrieves the article keywords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2_selectionConcept.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select a keyword already translated in IEML (in blue), displaying the grid containing concepts defining the keyword</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3_propositionTraduction2.png" id="0" name="Picture 1"/>
          <p:cNvPicPr>
            <a:picLocks noGrp="1" noChangeAspect="1"/>
          </p:cNvPicPr>
          <p:nvPr/>
        </p:nvPicPr>
        <p:blipFill>
          <a:blip r:embed="rId2"/>
          <a:stretch>
            <a:fillRect/>
          </a:stretch>
        </p:blipFill>
        <p:spPr bwMode="auto">
          <a:xfrm>
            <a:off x="1371600" y="1193800"/>
            <a:ext cx="638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If the keyword hasn’t been translated a LLM translation is suggested (from the IEML dictionnary) and user can modify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4_validationTraduction.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After validation of the translation, the translation is added to the IEML database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5_selectionLogs.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build a query from selected concepts and keywords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6_affichageArticles.png" id="0" name="Picture 1"/>
          <p:cNvPicPr>
            <a:picLocks noGrp="1" noChangeAspect="1"/>
          </p:cNvPicPr>
          <p:nvPr/>
        </p:nvPicPr>
        <p:blipFill>
          <a:blip r:embed="rId2"/>
          <a:stretch>
            <a:fillRect/>
          </a:stretch>
        </p:blipFill>
        <p:spPr bwMode="auto">
          <a:xfrm>
            <a:off x="1219200" y="1193800"/>
            <a:ext cx="6718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The query returns 2 lists of articles, one from the keywords selected and one from a query augmentation of those keywords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DH2026 - Reclaiming Epistemic Agency in AI-Assisted Research: A Recommender System That Reveals, Rather Than Hides, IR Logic</dc:title>
  <dc:creator>Alexia Schneider; Marcello Vitali-Rosati; Pierre Levy</dc:creator>
  <cp:keywords/>
  <dcterms:created xsi:type="dcterms:W3CDTF">2026-07-07T16:32:18Z</dcterms:created>
  <dcterms:modified xsi:type="dcterms:W3CDTF">2026-07-07T16:32:18Z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../phd_udem.bib</vt:lpwstr>
  </property>
  <property fmtid="{D5CDD505-2E9C-101B-9397-08002B2CF9AE}" pid="5" name="by-author">
    <vt:lpwstr/>
  </property>
  <property fmtid="{D5CDD505-2E9C-101B-9397-08002B2CF9AE}" pid="6" name="colorlinks">
    <vt:lpwstr>True</vt:lpwstr>
  </property>
  <property fmtid="{D5CDD505-2E9C-101B-9397-08002B2CF9AE}" pid="7" name="date">
    <vt:lpwstr>2026-05-22</vt:lpwstr>
  </property>
  <property fmtid="{D5CDD505-2E9C-101B-9397-08002B2CF9AE}" pid="8" name="fig-cap-location">
    <vt:lpwstr>bottom</vt:lpwstr>
  </property>
  <property fmtid="{D5CDD505-2E9C-101B-9397-08002B2CF9AE}" pid="9" name="footer">
    <vt:lpwstr>Alexia Schneider - 2026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ink-citations">
    <vt:lpwstr>True</vt:lpwstr>
  </property>
  <property fmtid="{D5CDD505-2E9C-101B-9397-08002B2CF9AE}" pid="15" name="logo">
    <vt:lpwstr>img/stickerAvecTexte.png</vt:lpwstr>
  </property>
  <property fmtid="{D5CDD505-2E9C-101B-9397-08002B2CF9AE}" pid="16" name="resources">
    <vt:lpwstr/>
  </property>
  <property fmtid="{D5CDD505-2E9C-101B-9397-08002B2CF9AE}" pid="17" name="scrollable">
    <vt:lpwstr>True</vt:lpwstr>
  </property>
  <property fmtid="{D5CDD505-2E9C-101B-9397-08002B2CF9AE}" pid="18" name="slide-number">
    <vt:lpwstr>True</vt:lpwstr>
  </property>
  <property fmtid="{D5CDD505-2E9C-101B-9397-08002B2CF9AE}" pid="19" name="smaller">
    <vt:lpwstr>True</vt:lpwstr>
  </property>
  <property fmtid="{D5CDD505-2E9C-101B-9397-08002B2CF9AE}" pid="20" name="toc-title">
    <vt:lpwstr>Table of contents</vt:lpwstr>
  </property>
</Properties>
</file>