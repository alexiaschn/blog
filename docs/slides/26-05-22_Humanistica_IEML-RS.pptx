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mpg4" ContentType="video/mp4"/>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6" Type="http://schemas.openxmlformats.org/officeDocument/2006/relationships/viewProps" Target="viewProps.xml" /><Relationship Id="rId35" Type="http://schemas.openxmlformats.org/officeDocument/2006/relationships/presProps" Target="presProps.xml" /><Relationship Id="rId1" Type="http://schemas.openxmlformats.org/officeDocument/2006/relationships/slideMaster" Target="slideMasters/slideMaster1.xml" /><Relationship Id="rId38" Type="http://schemas.openxmlformats.org/officeDocument/2006/relationships/tableStyles" Target="tableStyles.xml" /><Relationship Id="rId3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4" Type="http://schemas.openxmlformats.org/officeDocument/2006/relationships/hyperlink" Target="https://ieml.intlekt.io/" TargetMode="External" /><Relationship Id="rId6" Type="http://schemas.openxmlformats.org/officeDocument/2006/relationships/image" Target="../media/image7.png" /><Relationship Id="rId5" Type="http://schemas.openxmlformats.org/officeDocument/2006/relationships/image" Target="../media/image6.png" /><Relationship Id="rId3" Type="http://schemas.openxmlformats.org/officeDocument/2006/relationships/image" Target="../media/image5.png"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mpg4"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177/26339137231207634" TargetMode="External" /><Relationship Id="rId3" Type="http://schemas.openxmlformats.org/officeDocument/2006/relationships/hyperlink" Target="https://doi.org/10.16995/dscn.265" TargetMode="External" /><Relationship Id="rId4" Type="http://schemas.openxmlformats.org/officeDocument/2006/relationships/hyperlink" Target="https://www.ncbi.nlm.nih.gov/pubmed/5634379" TargetMode="External" /><Relationship Id="rId5" Type="http://schemas.openxmlformats.org/officeDocument/2006/relationships/hyperlink" Target="https://doi.org/10.1109/TVCG.2021.3114820" TargetMode="External" /><Relationship Id="rId6" Type="http://schemas.openxmlformats.org/officeDocument/2006/relationships/hyperlink" Target="https://doi.org/10.1073/pnas.2012208118" TargetMode="External" /><Relationship Id="rId7" Type="http://schemas.openxmlformats.org/officeDocument/2006/relationships/hyperlink" Target="https://doi.org/10.1080/15424065.2025.2546052" TargetMode="External" /><Relationship Id="rId8" Type="http://schemas.openxmlformats.org/officeDocument/2006/relationships/hyperlink" Target="https://doi.org/10.1145/3491102.3501905" TargetMode="External" /><Relationship Id="rId9" Type="http://schemas.openxmlformats.org/officeDocument/2006/relationships/hyperlink" Target="https://doi.org/10.1525/rep.2014.127.1.64" TargetMode="External" /><Relationship Id="rId10" Type="http://schemas.openxmlformats.org/officeDocument/2006/relationships/hyperlink" Target="https://doi.org/10.1073/pnas.2117488119"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Humanistica - recherche documentaire assistée par IA et systèmes de recommandation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Alexia Schneider</a:t>
            </a:r>
            <a:br/>
            <a:r>
              <a:rPr/>
              <a:t>Marcello Vitali-Rosati</a:t>
            </a:r>
            <a:br/>
            <a:r>
              <a:rPr/>
              <a:t>Pierre Levy</a:t>
            </a:r>
          </a:p>
        </p:txBody>
      </p:sp>
      <p:sp>
        <p:nvSpPr>
          <p:cNvPr id="4" name="Date Placeholder 3"/>
          <p:cNvSpPr>
            <a:spLocks noGrp="1"/>
          </p:cNvSpPr>
          <p:nvPr>
            <p:ph idx="10" sz="half" type="dt"/>
          </p:nvPr>
        </p:nvSpPr>
        <p:spPr/>
        <p:txBody>
          <a:bodyPr/>
          <a:lstStyle/>
          <a:p>
            <a:pPr lvl="0" indent="0" marL="0">
              <a:buNone/>
            </a:pPr>
            <a:r>
              <a:rPr/>
              <a:t>2026-05-22</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humanistica_agentiviteEpistemique.png" id="0" name="Picture 1"/>
          <p:cNvPicPr>
            <a:picLocks noGrp="1" noChangeAspect="1"/>
          </p:cNvPicPr>
          <p:nvPr/>
        </p:nvPicPr>
        <p:blipFill>
          <a:blip r:embed="rId2"/>
          <a:stretch>
            <a:fillRect/>
          </a:stretch>
        </p:blipFill>
        <p:spPr bwMode="auto">
          <a:xfrm>
            <a:off x="457200" y="1739900"/>
            <a:ext cx="8229600" cy="22987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a:t>
            </a:r>
          </a:p>
        </p:txBody>
      </p:sp>
      <p:sp>
        <p:nvSpPr>
          <p:cNvPr id="3" name="Content Placeholder 2"/>
          <p:cNvSpPr>
            <a:spLocks noGrp="1"/>
          </p:cNvSpPr>
          <p:nvPr>
            <p:ph idx="1"/>
          </p:nvPr>
        </p:nvSpPr>
        <p:spPr/>
        <p:txBody>
          <a:bodyPr/>
          <a:lstStyle/>
          <a:p>
            <a:pPr lvl="0"/>
            <a:r>
              <a:rPr/>
              <a:t>Introduction et problèmatique</a:t>
            </a:r>
          </a:p>
          <a:p>
            <a:pPr lvl="0"/>
            <a:r>
              <a:rPr/>
              <a:t>Etat de l’art (bref)</a:t>
            </a:r>
          </a:p>
          <a:p>
            <a:pPr lvl="0"/>
            <a:r>
              <a:rPr/>
              <a:t>Démonstration</a:t>
            </a:r>
          </a:p>
          <a:p>
            <a:pPr lvl="0"/>
            <a:r>
              <a:rPr/>
              <a:t>Évaluations des fonctionalités d’IEML-RS</a:t>
            </a:r>
          </a:p>
          <a:p>
            <a:pPr lvl="0"/>
            <a:r>
              <a:rPr/>
              <a:t>Conclusion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a:t>Cadre : recherche documentaire scientifique.</a:t>
            </a:r>
          </a:p>
          <a:p>
            <a:pPr lvl="0" indent="0" marL="0">
              <a:buNone/>
            </a:pPr>
            <a:r>
              <a:rPr/>
              <a:t>Systèmes de recommandation ont changé de forme :</a:t>
            </a:r>
          </a:p>
          <a:p>
            <a:pPr lvl="0" indent="0" marL="0">
              <a:buNone/>
            </a:pPr>
            <a:r>
              <a:rPr/>
              <a:t>d’algorithmes qui extraient des “you might also like” en bordure de moteurs de recherche à des outils qui prennent en charge une requête en langue naturelle.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isidore_recommandations.png" id="0" name="Picture 1"/>
          <p:cNvPicPr>
            <a:picLocks noGrp="1" noChangeAspect="1"/>
          </p:cNvPicPr>
          <p:nvPr/>
        </p:nvPicPr>
        <p:blipFill>
          <a:blip r:embed="rId2"/>
          <a:stretch>
            <a:fillRect/>
          </a:stretch>
        </p:blipFill>
        <p:spPr bwMode="auto">
          <a:xfrm>
            <a:off x="2844800" y="1193800"/>
            <a:ext cx="3467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Screenshot de Isidore et des fonctions classiques d’articles suggérés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undermindai.png" id="0" name="Picture 1"/>
          <p:cNvPicPr>
            <a:picLocks noGrp="1" noChangeAspect="1"/>
          </p:cNvPicPr>
          <p:nvPr/>
        </p:nvPicPr>
        <p:blipFill>
          <a:blip r:embed="rId2"/>
          <a:stretch>
            <a:fillRect/>
          </a:stretch>
        </p:blipFill>
        <p:spPr bwMode="auto">
          <a:xfrm>
            <a:off x="1143000" y="1193800"/>
            <a:ext cx="6845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Screenshot de Undermind.ai. Prise en charge de la requête en langue naturelle, combinaison de toutes les étapes de la recherche (RI, ranking, synthèse)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Problématique</a:t>
            </a:r>
          </a:p>
        </p:txBody>
      </p:sp>
      <p:sp>
        <p:nvSpPr>
          <p:cNvPr id="3" name="Content Placeholder 2"/>
          <p:cNvSpPr>
            <a:spLocks noGrp="1"/>
          </p:cNvSpPr>
          <p:nvPr>
            <p:ph idx="1"/>
          </p:nvPr>
        </p:nvSpPr>
        <p:spPr/>
        <p:txBody>
          <a:bodyPr/>
          <a:lstStyle/>
          <a:p>
            <a:pPr lvl="0"/>
            <a:r>
              <a:rPr/>
              <a:t>concentration de citations (effet Matthew (Merton 1968)), bulles de filtre (Pariser 2011), biais de confirmation (Underwood 2014) : réduction de l’espace épistémique de la découverte (Nielsen and Andersen 2021; Varga 2022).</a:t>
            </a:r>
          </a:p>
          <a:p>
            <a:pPr lvl="0"/>
            <a:r>
              <a:rPr/>
              <a:t>opacité du ranking, des filtres, de la synthèse s’il y a lieu (Archambault and Rincón 2024; Patterson et al. 2025; Tay 2025)</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de recherche</a:t>
            </a:r>
          </a:p>
        </p:txBody>
      </p:sp>
      <p:sp>
        <p:nvSpPr>
          <p:cNvPr id="3" name="Content Placeholder 2"/>
          <p:cNvSpPr>
            <a:spLocks noGrp="1"/>
          </p:cNvSpPr>
          <p:nvPr>
            <p:ph idx="1"/>
          </p:nvPr>
        </p:nvSpPr>
        <p:spPr/>
        <p:txBody>
          <a:bodyPr/>
          <a:lstStyle/>
          <a:p>
            <a:pPr lvl="0" indent="0" marL="0">
              <a:buNone/>
            </a:pPr>
            <a:r>
              <a:rPr/>
              <a:t>Comment concevoir des systèmes explicables qui se trouvent au centre d’environnement qui favorisent l’exploration critique et permettent un engagement intellectuel avec l’algorithme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Quelques exemples de systèmes de recommandations alternatifs</a:t>
            </a:r>
          </a:p>
        </p:txBody>
      </p:sp>
      <p:sp>
        <p:nvSpPr>
          <p:cNvPr id="3" name="Content Placeholder 2"/>
          <p:cNvSpPr>
            <a:spLocks noGrp="1"/>
          </p:cNvSpPr>
          <p:nvPr>
            <p:ph idx="1"/>
          </p:nvPr>
        </p:nvSpPr>
        <p:spPr/>
        <p:txBody>
          <a:bodyPr/>
          <a:lstStyle/>
          <a:p>
            <a:pPr lvl="0"/>
            <a:r>
              <a:rPr>
                <a:latin typeface="Courier"/>
              </a:rPr>
              <a:t>Bridger</a:t>
            </a:r>
            <a:r>
              <a:rPr/>
              <a:t> de Portenoy et al. (2022) expose les chercheur·se·s à des auteur·ice·s extérieur·e·s à leurs réseaux intellectuels habituels afin de favoriser le décloisonnement disciplinaire.</a:t>
            </a:r>
          </a:p>
          <a:p>
            <a:pPr lvl="0"/>
            <a:r>
              <a:rPr>
                <a:latin typeface="Courier"/>
              </a:rPr>
              <a:t>VITALITY</a:t>
            </a:r>
            <a:r>
              <a:rPr/>
              <a:t> de Narechania et al. (2022) propose une approche de revue de littérature fondée sur la visualisation</a:t>
            </a:r>
          </a:p>
          <a:p>
            <a:pPr lvl="0"/>
            <a:r>
              <a:rPr>
                <a:latin typeface="Courier"/>
              </a:rPr>
              <a:t>STAK</a:t>
            </a:r>
            <a:r>
              <a:rPr/>
              <a:t> de Martin, Greenspan, and Quan-Haase (2017), s’est inspiré des affordances matérielles des bibliothèques physiques en tentant de recréer des environnements de navigation spatialisés.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IEML</a:t>
            </a:r>
          </a:p>
        </p:txBody>
      </p:sp>
      <p:sp>
        <p:nvSpPr>
          <p:cNvPr id="4" name="Text Placeholder 3"/>
          <p:cNvSpPr>
            <a:spLocks noGrp="1"/>
          </p:cNvSpPr>
          <p:nvPr>
            <p:ph idx="2" sz="half" type="body"/>
          </p:nvPr>
        </p:nvSpPr>
        <p:spPr/>
        <p:txBody>
          <a:bodyPr/>
          <a:lstStyle/>
          <a:p>
            <a:pPr lvl="0" indent="0" marL="0">
              <a:buNone/>
            </a:pPr>
            <a:r>
              <a:rPr/>
              <a:t>Information Economy MetaLanguage (IEML) (Lévy 2023)</a:t>
            </a:r>
          </a:p>
        </p:txBody>
      </p:sp>
      <p:pic>
        <p:nvPicPr>
          <p:cNvPr descr="img/ieml_decomposition_table.png" id="0" name="Picture 1"/>
          <p:cNvPicPr>
            <a:picLocks noGrp="1" noChangeAspect="1"/>
          </p:cNvPicPr>
          <p:nvPr/>
        </p:nvPicPr>
        <p:blipFill>
          <a:blip r:embed="rId2"/>
          <a:stretch>
            <a:fillRect/>
          </a:stretch>
        </p:blipFill>
        <p:spPr bwMode="auto">
          <a:xfrm>
            <a:off x="4381500" y="203200"/>
            <a:ext cx="3479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Matrice de décomposition IEML à partir des 9 facettes sémantiques</a:t>
            </a:r>
          </a:p>
        </p:txBody>
      </p:sp>
      <p:pic>
        <p:nvPicPr>
          <p:cNvPr descr="img/iemlgrid.png" id="0" name="Picture 1"/>
          <p:cNvPicPr>
            <a:picLocks noGrp="1" noChangeAspect="1"/>
          </p:cNvPicPr>
          <p:nvPr/>
        </p:nvPicPr>
        <p:blipFill>
          <a:blip r:embed="rId3"/>
          <a:stretch>
            <a:fillRect/>
          </a:stretch>
        </p:blipFill>
        <p:spPr bwMode="auto">
          <a:xfrm>
            <a:off x="3784600" y="203200"/>
            <a:ext cx="4673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Visualisation de la grille dans le plugin IEML-RS</a:t>
            </a:r>
          </a:p>
        </p:txBody>
      </p:sp>
      <p:sp>
        <p:nvSpPr>
          <p:cNvPr id="3" name="Content Placeholder 2"/>
          <p:cNvSpPr>
            <a:spLocks noGrp="1"/>
          </p:cNvSpPr>
          <p:nvPr>
            <p:ph idx="1"/>
          </p:nvPr>
        </p:nvSpPr>
        <p:spPr/>
        <p:txBody>
          <a:bodyPr/>
          <a:lstStyle/>
          <a:p>
            <a:pPr lvl="0" indent="0" marL="0">
              <a:buNone/>
            </a:pPr>
            <a:r>
              <a:rPr/>
              <a:t>Dictionnaire de termes traduits en IEML </a:t>
            </a:r>
            <a:r>
              <a:rPr>
                <a:hlinkClick r:id="rId4"/>
              </a:rPr>
              <a:t>https://ieml.intlekt.io/</a:t>
            </a:r>
          </a:p>
          <a:p>
            <a:pPr lvl="0" indent="0" marL="0">
              <a:buNone/>
            </a:pPr>
            <a:r>
              <a:rPr/>
              <a:t>E (emptiness), U (virtual), A (actual), S (sign), B (being), and T (thing).</a:t>
            </a:r>
          </a:p>
          <a:p>
            <a:pPr lvl="0" indent="0" marL="0">
              <a:buNone/>
            </a:pPr>
            <a:r>
              <a:rPr/>
              <a:t>Lettre minuscule : combinaison deux primitives : 26 symboles.</a:t>
            </a:r>
          </a:p>
          <a:p>
            <a:pPr lvl="0" indent="0" marL="0">
              <a:buNone/>
            </a:pPr>
            <a:r>
              <a:rPr/>
              <a:t>Ponctuation : représente une des 6 couches du concept.</a:t>
            </a:r>
          </a:p>
          <a:p>
            <a:pPr lvl="0" indent="0" marL="0">
              <a:buNone/>
            </a:pPr>
            <a:r>
              <a:rPr/>
              <a:t>Chaque couche est représentée par une triade suivant la syntaxe suivante : substance (role 1), attribut (role 2) et mode (role 3).</a:t>
            </a:r>
          </a:p>
        </p:txBody>
      </p:sp>
      <p:pic>
        <p:nvPicPr>
          <p:cNvPr descr="img/ieml-declinaison-lettre-M.png" id="0" name="Picture 1"/>
          <p:cNvPicPr>
            <a:picLocks noGrp="1" noChangeAspect="1"/>
          </p:cNvPicPr>
          <p:nvPr/>
        </p:nvPicPr>
        <p:blipFill>
          <a:blip r:embed="rId5"/>
          <a:stretch>
            <a:fillRect/>
          </a:stretch>
        </p:blipFill>
        <p:spPr bwMode="auto">
          <a:xfrm>
            <a:off x="3568700" y="444500"/>
            <a:ext cx="5105400" cy="3390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Modulation de la primitive M</a:t>
            </a:r>
          </a:p>
        </p:txBody>
      </p:sp>
      <p:pic>
        <p:nvPicPr>
          <p:cNvPr descr="img/ieml_melodie_paradigme.png" id="0" name="Picture 1"/>
          <p:cNvPicPr>
            <a:picLocks noGrp="1" noChangeAspect="1"/>
          </p:cNvPicPr>
          <p:nvPr/>
        </p:nvPicPr>
        <p:blipFill>
          <a:blip r:embed="rId6"/>
          <a:stretch>
            <a:fillRect/>
          </a:stretch>
        </p:blipFill>
        <p:spPr bwMode="auto">
          <a:xfrm>
            <a:off x="3568700" y="1054100"/>
            <a:ext cx="5105400" cy="2184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Tableau du paradigme des fonctions sémiotiques (sélection autour du concept de “mélodie”)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demo_ieml-rs.mp4"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Démonstration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Résumé des fonctionalités principales</a:t>
            </a:r>
          </a:p>
        </p:txBody>
      </p:sp>
      <p:sp>
        <p:nvSpPr>
          <p:cNvPr id="3" name="Content Placeholder 2"/>
          <p:cNvSpPr>
            <a:spLocks noGrp="1"/>
          </p:cNvSpPr>
          <p:nvPr>
            <p:ph idx="1"/>
          </p:nvPr>
        </p:nvSpPr>
        <p:spPr/>
        <p:txBody>
          <a:bodyPr/>
          <a:lstStyle/>
          <a:p>
            <a:pPr lvl="0"/>
            <a:r>
              <a:rPr/>
              <a:t>Exploration d’un champs sémantique élargit grâce à IEML à partir d’un mot-clé</a:t>
            </a:r>
          </a:p>
          <a:p>
            <a:pPr lvl="0"/>
            <a:r>
              <a:rPr/>
              <a:t>Génération automatique et correction (</a:t>
            </a:r>
            <a:r>
              <a:rPr i="1"/>
              <a:t>human-in-the-loop</a:t>
            </a:r>
            <a:r>
              <a:rPr/>
              <a:t>) des traductions manquantes</a:t>
            </a:r>
          </a:p>
          <a:p>
            <a:pPr lvl="0"/>
            <a:r>
              <a:rPr/>
              <a:t>Construction d’une requête envoyée à Isidore</a:t>
            </a:r>
          </a:p>
          <a:p>
            <a:pPr lvl="0"/>
            <a:r>
              <a:rPr/>
              <a:t>Comparaison des listes d’articles envoyé à partir de la requête simple et de la requête augmentée par LLM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Prompts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de “traduction” en IEML</a:t>
            </a:r>
          </a:p>
        </p:txBody>
      </p:sp>
      <p:sp>
        <p:nvSpPr>
          <p:cNvPr id="3" name="Content Placeholder 2"/>
          <p:cNvSpPr>
            <a:spLocks noGrp="1"/>
          </p:cNvSpPr>
          <p:nvPr>
            <p:ph idx="1"/>
          </p:nvPr>
        </p:nvSpPr>
        <p:spPr/>
        <p:txBody>
          <a:bodyPr/>
          <a:lstStyle/>
          <a:p>
            <a:pPr lvl="0" indent="0">
              <a:buNone/>
            </a:pPr>
            <a:r>
              <a:rPr>
                <a:latin typeface="Courier"/>
              </a:rPr>
              <a:t>Tu es un expert en sémantique. Tu dois décomposer sémantiquement le mot-clé "${keyword}" à partir des 9 valeurs suivantes :
'thème, qui, quoi, à qui, par quoi, quand, où, pourquoi, comment'
## Exemples
${examples}
## Mots du dictionnaire 
Tu dois utiliser les mots ci-dessous pour définir le mot-clé "${keyword}":
${context}
Ta réponse prendra la forme d'un CSV à 9 colonnes, les entêtes de colonnes sont: 
'thème, qui, quoi, à qui, par quoi, quand, où, pourquoi, comment'
Il n'est pas nécessaire de remplir tous les champs. Un champs peut rester vide entre deux virgules, comme dans les exemples. 
Répond uniquement avec une ligne CSV finale, sans explication.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de la Query augmentation</a:t>
            </a:r>
          </a:p>
        </p:txBody>
      </p:sp>
      <p:sp>
        <p:nvSpPr>
          <p:cNvPr id="3" name="Content Placeholder 2"/>
          <p:cNvSpPr>
            <a:spLocks noGrp="1"/>
          </p:cNvSpPr>
          <p:nvPr>
            <p:ph idx="1"/>
          </p:nvPr>
        </p:nvSpPr>
        <p:spPr/>
        <p:txBody>
          <a:bodyPr/>
          <a:lstStyle/>
          <a:p>
            <a:pPr lvl="0" indent="0">
              <a:buNone/>
            </a:pPr>
            <a:r>
              <a:rPr>
                <a:latin typeface="Courier"/>
              </a:rPr>
              <a:t>Produit 10 variants de la requête booléenne suivante "${keywords}". Combine les requêtes proposées à l'aide de l'opérateur OU comme dans l'exemple : Mots-clés:  "impact of climate change on biodiversity". Réponse: "
(climate change biodiversity impact) OU (effects of climate change on ecosystems) OU (biodiversity loss due to climate change) OU (climate change species extinction) OU (impact of global warming on wildlife) OU (effects of climate change on ecosystems and species diversity) OU (how climate change impacts wildlife and biodiversity) OR (climate change consequences for biological diversity) OU (relationship between climate change and loss of biodiversity) OU (climate change threats to flora and fauna diversity) OU (impact of climate change on biodiversity)
C'est à ton tour avec "${keywords}". Répond uniquement avec la requête sans donner d'explication.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Évaluations</a:t>
            </a:r>
          </a:p>
        </p:txBody>
      </p:sp>
      <p:sp>
        <p:nvSpPr>
          <p:cNvPr id="3" name="Content Placeholder 2"/>
          <p:cNvSpPr>
            <a:spLocks noGrp="1"/>
          </p:cNvSpPr>
          <p:nvPr>
            <p:ph idx="1"/>
          </p:nvPr>
        </p:nvSpPr>
        <p:spPr/>
        <p:txBody>
          <a:bodyPr/>
          <a:lstStyle/>
          <a:p>
            <a:pPr lvl="0"/>
            <a:r>
              <a:rPr/>
              <a:t>Évaluation quantitative de la traduction produite par le LLM en IEML (RAG pour ancrage des traduction dans les mots du dictionnaire IEML)</a:t>
            </a:r>
          </a:p>
          <a:p>
            <a:pPr lvl="0"/>
            <a:r>
              <a:rPr/>
              <a:t>Évaluation qualitative (user study) de l’application dans son ensemble.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Évaluation de la traduction automatique en IEML</a:t>
            </a:r>
          </a:p>
        </p:txBody>
      </p:sp>
      <p:sp>
        <p:nvSpPr>
          <p:cNvPr id="3" name="Content Placeholder 2"/>
          <p:cNvSpPr>
            <a:spLocks noGrp="1"/>
          </p:cNvSpPr>
          <p:nvPr>
            <p:ph idx="1"/>
          </p:nvPr>
        </p:nvSpPr>
        <p:spPr/>
        <p:txBody>
          <a:bodyPr/>
          <a:lstStyle/>
          <a:p>
            <a:pPr lvl="0" indent="0" marL="0">
              <a:buNone/>
            </a:pPr>
            <a:r>
              <a:rPr/>
              <a:t>Traduction attendue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Exemples de traductions produites par rag-llama-fewshot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Récapitulatif de l’évaluation</a:t>
            </a:r>
          </a:p>
        </p:txBody>
      </p:sp>
      <p:sp>
        <p:nvSpPr>
          <p:cNvPr id="4" name="Text Placeholder 3"/>
          <p:cNvSpPr>
            <a:spLocks noGrp="1"/>
          </p:cNvSpPr>
          <p:nvPr>
            <p:ph idx="2" sz="half" type="body"/>
          </p:nvPr>
        </p:nvSpPr>
        <p:spPr/>
        <p:txBody>
          <a:bodyPr/>
          <a:lstStyle/>
          <a:p>
            <a:pPr lvl="0" indent="0" marL="0">
              <a:buNone/>
            </a:pPr>
            <a:r>
              <a:rPr/>
              <a:t>Modèles (via l’API de Together AI) :</a:t>
            </a:r>
          </a:p>
          <a:p>
            <a:pPr lvl="0"/>
            <a:r>
              <a:rPr/>
              <a:t>Meta-Llama-3-70B-Instruct-Turbo</a:t>
            </a:r>
          </a:p>
          <a:p>
            <a:pPr lvl="0"/>
            <a:r>
              <a:rPr/>
              <a:t>Gemma-3n-E4B-it,</a:t>
            </a:r>
          </a:p>
          <a:p>
            <a:pPr lvl="0"/>
            <a:r>
              <a:rPr/>
              <a:t>GPT-oss-20B</a:t>
            </a:r>
          </a:p>
        </p:txBody>
      </p:sp>
      <p:graphicFrame>
        <p:nvGraphicFramePr>
          <p:cNvPr id="6" name="Content Placeholder 5"/>
          <p:cNvGraphicFramePr>
            <a:graphicFrameLocks noGrp="1"/>
          </p:cNvGraphicFramePr>
          <p:nvPr>
            <p:ph idx="1"/>
          </p:nvPr>
        </p:nvGraphicFramePr>
        <p:xfrm>
          <a:off x="3568700" y="203200"/>
          <a:ext cx="5105400" cy="3873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model/strategy</a:t>
                      </a:r>
                    </a:p>
                  </a:txBody>
                  <a:tcPr/>
                </a:tc>
                <a:tc>
                  <a:txBody>
                    <a:bodyPr/>
                    <a:lstStyle/>
                    <a:p>
                      <a:pPr lvl="0" indent="0" marL="0">
                        <a:buNone/>
                      </a:pPr>
                      <a:r>
                        <a:rPr/>
                        <a:t>BLEU</a:t>
                      </a:r>
                    </a:p>
                  </a:txBody>
                  <a:tcPr/>
                </a:tc>
                <a:tc>
                  <a:txBody>
                    <a:bodyPr/>
                    <a:lstStyle/>
                    <a:p>
                      <a:pPr lvl="0" indent="0" marL="0">
                        <a:buNone/>
                      </a:pPr>
                      <a:r>
                        <a:rPr/>
                        <a:t>Cosine</a:t>
                      </a:r>
                    </a:p>
                  </a:txBody>
                  <a:tcPr/>
                </a:tc>
                <a:tc>
                  <a:txBody>
                    <a:bodyPr/>
                    <a:lstStyle/>
                    <a:p>
                      <a:pPr lvl="0" indent="0" marL="0">
                        <a:buNone/>
                      </a:pPr>
                      <a:r>
                        <a:rPr/>
                        <a:t>avg</a:t>
                      </a:r>
                    </a:p>
                  </a:txBody>
                  <a:tcPr/>
                </a:tc>
              </a:tr>
              <a:tr h="0">
                <a:tc>
                  <a:txBody>
                    <a:bodyPr/>
                    <a:lstStyle/>
                    <a:p>
                      <a:pPr lvl="0" indent="0" marL="0">
                        <a:buNone/>
                      </a:pPr>
                      <a:r>
                        <a:rPr/>
                        <a:t>baseline</a:t>
                      </a:r>
                    </a:p>
                  </a:txBody>
                </a:tc>
                <a:tc>
                  <a:txBody>
                    <a:bodyPr/>
                    <a:lstStyle/>
                    <a:p>
                      <a:pPr lvl="0" indent="0" marL="0">
                        <a:buNone/>
                      </a:pPr>
                      <a:r>
                        <a:rPr/>
                        <a:t>0.056</a:t>
                      </a:r>
                    </a:p>
                  </a:txBody>
                </a:tc>
                <a:tc>
                  <a:txBody>
                    <a:bodyPr/>
                    <a:lstStyle/>
                    <a:p>
                      <a:pPr lvl="0" indent="0" marL="0">
                        <a:buNone/>
                      </a:pPr>
                      <a:r>
                        <a:rPr/>
                        <a:t>0.515</a:t>
                      </a:r>
                    </a:p>
                  </a:txBody>
                </a:tc>
                <a:tc>
                  <a:txBody>
                    <a:bodyPr/>
                    <a:lstStyle/>
                    <a:p>
                      <a:pPr lvl="0" indent="0" marL="0">
                        <a:buNone/>
                      </a:pPr>
                      <a:r>
                        <a:rPr/>
                        <a:t>0.286</a:t>
                      </a:r>
                    </a:p>
                  </a:txBody>
                </a:tc>
              </a:tr>
              <a:tr h="0">
                <a:tc>
                  <a:txBody>
                    <a:bodyPr/>
                    <a:lstStyle/>
                    <a:p>
                      <a:pPr lvl="0" indent="0" marL="0">
                        <a:buNone/>
                      </a:pPr>
                      <a:r>
                        <a:rPr/>
                        <a:t>llama_fewshot</a:t>
                      </a:r>
                    </a:p>
                  </a:txBody>
                </a:tc>
                <a:tc>
                  <a:txBody>
                    <a:bodyPr/>
                    <a:lstStyle/>
                    <a:p>
                      <a:pPr lvl="0" indent="0" marL="0">
                        <a:buNone/>
                      </a:pPr>
                      <a:r>
                        <a:rPr b="1"/>
                        <a:t>0.0222</a:t>
                      </a:r>
                    </a:p>
                  </a:txBody>
                </a:tc>
                <a:tc>
                  <a:txBody>
                    <a:bodyPr/>
                    <a:lstStyle/>
                    <a:p>
                      <a:pPr lvl="0" indent="0" marL="0">
                        <a:buNone/>
                      </a:pPr>
                      <a:r>
                        <a:rPr b="1"/>
                        <a:t>0.555</a:t>
                      </a:r>
                    </a:p>
                  </a:txBody>
                </a:tc>
                <a:tc>
                  <a:txBody>
                    <a:bodyPr/>
                    <a:lstStyle/>
                    <a:p>
                      <a:pPr lvl="0" indent="0" marL="0">
                        <a:buNone/>
                      </a:pPr>
                      <a:r>
                        <a:rPr b="1"/>
                        <a:t>0.289</a:t>
                      </a:r>
                    </a:p>
                  </a:txBody>
                </a:tc>
              </a:tr>
              <a:tr h="0">
                <a:tc>
                  <a:txBody>
                    <a:bodyPr/>
                    <a:lstStyle/>
                    <a:p>
                      <a:pPr lvl="0" indent="0" marL="0">
                        <a:buNone/>
                      </a:pPr>
                      <a:r>
                        <a:rPr/>
                        <a:t>gemma_fewshot</a:t>
                      </a:r>
                    </a:p>
                  </a:txBody>
                </a:tc>
                <a:tc>
                  <a:txBody>
                    <a:bodyPr/>
                    <a:lstStyle/>
                    <a:p>
                      <a:pPr lvl="0" indent="0" marL="0">
                        <a:buNone/>
                      </a:pPr>
                      <a:r>
                        <a:rPr/>
                        <a:t>0.020</a:t>
                      </a:r>
                    </a:p>
                  </a:txBody>
                </a:tc>
                <a:tc>
                  <a:txBody>
                    <a:bodyPr/>
                    <a:lstStyle/>
                    <a:p>
                      <a:pPr lvl="0" indent="0" marL="0">
                        <a:buNone/>
                      </a:pPr>
                      <a:r>
                        <a:rPr/>
                        <a:t>0.491</a:t>
                      </a:r>
                    </a:p>
                  </a:txBody>
                </a:tc>
                <a:tc>
                  <a:txBody>
                    <a:bodyPr/>
                    <a:lstStyle/>
                    <a:p>
                      <a:pPr lvl="0" indent="0" marL="0">
                        <a:buNone/>
                      </a:pPr>
                      <a:r>
                        <a:rPr/>
                        <a:t>0.255</a:t>
                      </a:r>
                    </a:p>
                  </a:txBody>
                </a:tc>
              </a:tr>
              <a:tr h="0">
                <a:tc>
                  <a:txBody>
                    <a:bodyPr/>
                    <a:lstStyle/>
                    <a:p>
                      <a:pPr lvl="0" indent="0" marL="0">
                        <a:buNone/>
                      </a:pPr>
                      <a:r>
                        <a:rPr/>
                        <a:t>openai_fewshot</a:t>
                      </a:r>
                    </a:p>
                  </a:txBody>
                </a:tc>
                <a:tc>
                  <a:txBody>
                    <a:bodyPr/>
                    <a:lstStyle/>
                    <a:p>
                      <a:pPr lvl="0" indent="0" marL="0">
                        <a:buNone/>
                      </a:pPr>
                      <a:r>
                        <a:rPr/>
                        <a:t>0.0167</a:t>
                      </a:r>
                    </a:p>
                  </a:txBody>
                </a:tc>
                <a:tc>
                  <a:txBody>
                    <a:bodyPr/>
                    <a:lstStyle/>
                    <a:p>
                      <a:pPr lvl="0" indent="0" marL="0">
                        <a:buNone/>
                      </a:pPr>
                      <a:r>
                        <a:rPr/>
                        <a:t>0.498</a:t>
                      </a:r>
                    </a:p>
                  </a:txBody>
                </a:tc>
                <a:tc>
                  <a:txBody>
                    <a:bodyPr/>
                    <a:lstStyle/>
                    <a:p>
                      <a:pPr lvl="0" indent="0" marL="0">
                        <a:buNone/>
                      </a:pPr>
                      <a:r>
                        <a:rPr/>
                        <a:t>0.257</a:t>
                      </a:r>
                    </a:p>
                  </a:txBody>
                </a:tc>
              </a:tr>
              <a:tr h="0">
                <a:tc>
                  <a:txBody>
                    <a:bodyPr/>
                    <a:lstStyle/>
                    <a:p>
                      <a:pPr lvl="0" indent="0" marL="0">
                        <a:buNone/>
                      </a:pPr>
                      <a:r>
                        <a:rPr/>
                        <a:t>llama_zeroshot</a:t>
                      </a:r>
                    </a:p>
                  </a:txBody>
                </a:tc>
                <a:tc>
                  <a:txBody>
                    <a:bodyPr/>
                    <a:lstStyle/>
                    <a:p>
                      <a:pPr lvl="0" indent="0" marL="0">
                        <a:buNone/>
                      </a:pPr>
                      <a:r>
                        <a:rPr/>
                        <a:t>0.0129</a:t>
                      </a:r>
                    </a:p>
                  </a:txBody>
                </a:tc>
                <a:tc>
                  <a:txBody>
                    <a:bodyPr/>
                    <a:lstStyle/>
                    <a:p>
                      <a:pPr lvl="0" indent="0" marL="0">
                        <a:buNone/>
                      </a:pPr>
                      <a:r>
                        <a:rPr/>
                        <a:t>0.514</a:t>
                      </a:r>
                    </a:p>
                  </a:txBody>
                </a:tc>
                <a:tc>
                  <a:txBody>
                    <a:bodyPr/>
                    <a:lstStyle/>
                    <a:p>
                      <a:pPr lvl="0" indent="0" marL="0">
                        <a:buNone/>
                      </a:pPr>
                      <a:r>
                        <a:rPr/>
                        <a:t>0.263</a:t>
                      </a:r>
                    </a:p>
                  </a:txBody>
                </a:tc>
              </a:tr>
              <a:tr h="0">
                <a:tc>
                  <a:txBody>
                    <a:bodyPr/>
                    <a:lstStyle/>
                    <a:p>
                      <a:pPr lvl="0" indent="0" marL="0">
                        <a:buNone/>
                      </a:pPr>
                      <a:r>
                        <a:rPr/>
                        <a:t>gemma_zeroshot</a:t>
                      </a:r>
                    </a:p>
                  </a:txBody>
                </a:tc>
                <a:tc>
                  <a:txBody>
                    <a:bodyPr/>
                    <a:lstStyle/>
                    <a:p>
                      <a:pPr lvl="0" indent="0" marL="0">
                        <a:buNone/>
                      </a:pPr>
                      <a:r>
                        <a:rPr/>
                        <a:t>0.0160</a:t>
                      </a:r>
                    </a:p>
                  </a:txBody>
                </a:tc>
                <a:tc>
                  <a:txBody>
                    <a:bodyPr/>
                    <a:lstStyle/>
                    <a:p>
                      <a:pPr lvl="0" indent="0" marL="0">
                        <a:buNone/>
                      </a:pPr>
                      <a:r>
                        <a:rPr/>
                        <a:t>0.479</a:t>
                      </a:r>
                    </a:p>
                  </a:txBody>
                </a:tc>
                <a:tc>
                  <a:txBody>
                    <a:bodyPr/>
                    <a:lstStyle/>
                    <a:p>
                      <a:pPr lvl="0" indent="0" marL="0">
                        <a:buNone/>
                      </a:pPr>
                      <a:r>
                        <a:rPr/>
                        <a:t>0.248</a:t>
                      </a:r>
                    </a:p>
                  </a:txBody>
                </a:tc>
              </a:tr>
              <a:tr h="0">
                <a:tc>
                  <a:txBody>
                    <a:bodyPr/>
                    <a:lstStyle/>
                    <a:p>
                      <a:pPr lvl="0" indent="0" marL="0">
                        <a:buNone/>
                      </a:pPr>
                      <a:r>
                        <a:rPr/>
                        <a:t>openai_zeroshot</a:t>
                      </a:r>
                    </a:p>
                  </a:txBody>
                </a:tc>
                <a:tc>
                  <a:txBody>
                    <a:bodyPr/>
                    <a:lstStyle/>
                    <a:p>
                      <a:pPr lvl="0" indent="0" marL="0">
                        <a:buNone/>
                      </a:pPr>
                      <a:r>
                        <a:rPr/>
                        <a:t>0.016</a:t>
                      </a:r>
                    </a:p>
                  </a:txBody>
                </a:tc>
                <a:tc>
                  <a:txBody>
                    <a:bodyPr/>
                    <a:lstStyle/>
                    <a:p>
                      <a:pPr lvl="0" indent="0" marL="0">
                        <a:buNone/>
                      </a:pPr>
                      <a:r>
                        <a:rPr/>
                        <a:t>0.493</a:t>
                      </a:r>
                    </a:p>
                  </a:txBody>
                </a:tc>
                <a:tc>
                  <a:txBody>
                    <a:bodyPr/>
                    <a:lstStyle/>
                    <a:p>
                      <a:pPr lvl="0" indent="0" marL="0">
                        <a:buNone/>
                      </a:pPr>
                      <a:r>
                        <a:rPr/>
                        <a:t>0.254</a:t>
                      </a:r>
                    </a:p>
                  </a:txBody>
                </a:tc>
              </a:tr>
            </a:tbl>
          </a:graphicData>
        </a:graphic>
      </p:graphicFrame>
      <p:sp>
        <p:nvSpPr>
          <p:cNvPr id="1" name="TextBox 3"/>
          <p:cNvSpPr txBox="1"/>
          <p:nvPr/>
        </p:nvSpPr>
        <p:spPr>
          <a:xfrm>
            <a:off x="3568700" y="4076700"/>
            <a:ext cx="5105400" cy="508000"/>
          </a:xfrm>
          <a:prstGeom prst="rect">
            <a:avLst/>
          </a:prstGeom>
          <a:noFill/>
        </p:spPr>
        <p:txBody>
          <a:bodyPr/>
          <a:lstStyle/>
          <a:p>
            <a:pPr lvl="0" indent="0" marL="0" algn="ctr">
              <a:buNone/>
            </a:pPr>
            <a:r>
              <a:rPr/>
              <a:t>Tableau de l’évaluation des modèles pour la traduction automatique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Le contexte (soit les entrées du dictionnaire) améliore marginalement les performances.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Évaluation qualitative de IEML-RS</a:t>
            </a:r>
          </a:p>
        </p:txBody>
      </p:sp>
      <p:sp>
        <p:nvSpPr>
          <p:cNvPr id="3" name="Content Placeholder 2"/>
          <p:cNvSpPr>
            <a:spLocks noGrp="1"/>
          </p:cNvSpPr>
          <p:nvPr>
            <p:ph idx="1"/>
          </p:nvPr>
        </p:nvSpPr>
        <p:spPr/>
        <p:txBody>
          <a:bodyPr/>
          <a:lstStyle/>
          <a:p>
            <a:pPr lvl="0" indent="0" marL="0">
              <a:buNone/>
            </a:pPr>
            <a:r>
              <a:rPr/>
              <a:t>6 utilisateur.ices (PhD en HN). Démonstration suivie d’une observation d’utilisation de 10 min puis entrevue de 15 min.</a:t>
            </a:r>
          </a:p>
          <a:p>
            <a:pPr lvl="0" indent="0" marL="0">
              <a:buNone/>
            </a:pPr>
            <a:r>
              <a:rPr/>
              <a:t>Critères :</a:t>
            </a:r>
          </a:p>
          <a:p>
            <a:pPr lvl="0"/>
            <a:r>
              <a:rPr/>
              <a:t>user-friendliness,</a:t>
            </a:r>
          </a:p>
          <a:p>
            <a:pPr lvl="0"/>
            <a:r>
              <a:rPr/>
              <a:t>utilité,</a:t>
            </a:r>
          </a:p>
          <a:p>
            <a:pPr lvl="0" indent="0" marL="0">
              <a:buNone/>
            </a:pPr>
            <a:r>
              <a:rPr/>
              <a:t>Fonctionalités:</a:t>
            </a:r>
          </a:p>
          <a:p>
            <a:pPr lvl="0"/>
            <a:r>
              <a:rPr/>
              <a:t>navigation (mots-clés et concepts),</a:t>
            </a:r>
          </a:p>
          <a:p>
            <a:pPr lvl="0"/>
            <a:r>
              <a:rPr/>
              <a:t>traduction vers IEML,</a:t>
            </a:r>
          </a:p>
          <a:p>
            <a:pPr lvl="0"/>
            <a:r>
              <a:rPr/>
              <a:t>comparaison des panels de listes d’articles.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Étude utilisateur.ice</a:t>
            </a:r>
          </a:p>
        </p:txBody>
      </p:sp>
      <p:sp>
        <p:nvSpPr>
          <p:cNvPr id="3" name="Content Placeholder 2"/>
          <p:cNvSpPr>
            <a:spLocks noGrp="1"/>
          </p:cNvSpPr>
          <p:nvPr>
            <p:ph idx="1"/>
          </p:nvPr>
        </p:nvSpPr>
        <p:spPr/>
        <p:txBody>
          <a:bodyPr/>
          <a:lstStyle/>
          <a:p>
            <a:pPr lvl="0"/>
            <a:r>
              <a:rPr b="1"/>
              <a:t>Facilité d’utilisation</a:t>
            </a:r>
            <a:r>
              <a:rPr/>
              <a:t> :</a:t>
            </a:r>
          </a:p>
          <a:p>
            <a:pPr lvl="1"/>
            <a:r>
              <a:rPr/>
              <a:t>confusion concernant l’intégration des concepts dans la requête,</a:t>
            </a:r>
          </a:p>
          <a:p>
            <a:pPr lvl="1"/>
            <a:r>
              <a:rPr/>
              <a:t>traduction automatique et validation : obstacle initial (base de données limitée) </a:t>
            </a:r>
          </a:p>
          <a:p>
            <a:pPr lvl="0"/>
            <a:r>
              <a:rPr b="1"/>
              <a:t>Utilité</a:t>
            </a:r>
            <a:r>
              <a:rPr/>
              <a:t> :</a:t>
            </a:r>
          </a:p>
          <a:p>
            <a:pPr lvl="1"/>
            <a:r>
              <a:rPr/>
              <a:t>révèle de fortes disparités dans les pratiques de recherche des utilisateur.ices (recherche en réseau et contextuelle vs. recherche par mots-clés)</a:t>
            </a:r>
          </a:p>
          <a:p>
            <a:pPr lvl="1"/>
            <a:r>
              <a:rPr/>
              <a:t>force : panneaux comparatifs</a:t>
            </a:r>
          </a:p>
          <a:p>
            <a:pPr lvl="1"/>
            <a:r>
              <a:rPr/>
              <a:t>une traduction de qualité mixte encourage </a:t>
            </a:r>
            <a:r>
              <a:rPr b="1"/>
              <a:t>l’autonomie de l’utilisateur et un travail dialogique et collaboratif avec les LLM</a:t>
            </a:r>
            <a:r>
              <a:rPr/>
              <a:t> (Schneider 2026)</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 et perspective</a:t>
            </a:r>
          </a:p>
        </p:txBody>
      </p:sp>
      <p:sp>
        <p:nvSpPr>
          <p:cNvPr id="3" name="Content Placeholder 2"/>
          <p:cNvSpPr>
            <a:spLocks noGrp="1"/>
          </p:cNvSpPr>
          <p:nvPr>
            <p:ph idx="1"/>
          </p:nvPr>
        </p:nvSpPr>
        <p:spPr/>
        <p:txBody>
          <a:bodyPr/>
          <a:lstStyle/>
          <a:p>
            <a:pPr lvl="0" indent="0" marL="0">
              <a:buNone/>
            </a:pPr>
            <a:r>
              <a:rPr/>
              <a:t>Exemple de conception d’environnement favorisant la sérendipité.</a:t>
            </a:r>
          </a:p>
          <a:p>
            <a:pPr lvl="0" indent="0" marL="0">
              <a:buNone/>
            </a:pPr>
            <a:r>
              <a:rPr/>
              <a:t>Des outils réflechis en cours dans les HN :</a:t>
            </a:r>
          </a:p>
          <a:p>
            <a:pPr lvl="0"/>
            <a:r>
              <a:rPr/>
              <a:t>Barista du projet Impresso : assistant à la construction de requête,</a:t>
            </a:r>
          </a:p>
          <a:p>
            <a:pPr lvl="0"/>
            <a:r>
              <a:rPr/>
              <a:t>les développement en cours à Isidore pour un RAG limité à des scénarii d’usage précis,</a:t>
            </a:r>
          </a:p>
          <a:p>
            <a:pPr lvl="0"/>
            <a:r>
              <a:rPr/>
              <a:t>le Evidence-RAG du JDH (pour assister à l’évaluation des commentaires évaluteur pendant le processus d’évaluation par les paires).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Remerciements</a:t>
            </a:r>
          </a:p>
        </p:txBody>
      </p:sp>
      <p:sp>
        <p:nvSpPr>
          <p:cNvPr id="3" name="Content Placeholder 2"/>
          <p:cNvSpPr>
            <a:spLocks noGrp="1"/>
          </p:cNvSpPr>
          <p:nvPr>
            <p:ph idx="1"/>
          </p:nvPr>
        </p:nvSpPr>
        <p:spPr/>
        <p:txBody>
          <a:bodyPr/>
          <a:lstStyle/>
          <a:p>
            <a:pPr lvl="0" indent="0" marL="0">
              <a:buNone/>
            </a:pPr>
            <a:r>
              <a:rPr/>
              <a:t>Recherche financée par le CRSH à travers le projet de partenariat Revue3.0 ainsi qu’une bourse du Réseau Circé de mutualisation et de recherche pour les revues scientifiques.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Merci pour votre attention !</a:t>
            </a:r>
          </a:p>
        </p:txBody>
      </p:sp>
      <p:sp>
        <p:nvSpPr>
          <p:cNvPr id="3" name="Content Placeholder 2"/>
          <p:cNvSpPr>
            <a:spLocks noGrp="1"/>
          </p:cNvSpPr>
          <p:nvPr>
            <p:ph idx="1"/>
          </p:nvPr>
        </p:nvSpPr>
        <p:spPr/>
        <p:txBody>
          <a:bodyPr/>
          <a:lstStyle/>
          <a:p>
            <a:pPr lvl="0" indent="0" marL="0">
              <a:buNone/>
            </a:pPr>
            <a:r>
              <a:rPr/>
              <a:t>Lien vers le téléchargement du plugin pour Firefox:</a:t>
            </a:r>
          </a:p>
          <a:p>
            <a:pPr lvl="0" indent="0" marL="0">
              <a:buNone/>
            </a:pP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Bibliographie</a:t>
            </a:r>
          </a:p>
        </p:txBody>
      </p:sp>
      <p:sp>
        <p:nvSpPr>
          <p:cNvPr id="3" name="Content Placeholder 2"/>
          <p:cNvSpPr>
            <a:spLocks noGrp="1"/>
          </p:cNvSpPr>
          <p:nvPr>
            <p:ph idx="1"/>
          </p:nvPr>
        </p:nvSpPr>
        <p:spPr/>
        <p:txBody>
          <a:bodyPr/>
          <a:lstStyle/>
          <a:p>
            <a:pPr lvl="0" indent="0" marL="0">
              <a:buNone/>
            </a:pPr>
            <a:r>
              <a:rPr/>
              <a:t>Archambault, Susan, and José Rincón. 2024. “An Evaluation of Cutting-Edge AI Research Tools Using the REACT Framework.” </a:t>
            </a:r>
            <a:r>
              <a:rPr i="1"/>
              <a:t>Computers in Libraries</a:t>
            </a:r>
            <a:r>
              <a:rPr/>
              <a:t> 44 (8).</a:t>
            </a:r>
          </a:p>
          <a:p>
            <a:pPr lvl="0" indent="0" marL="0">
              <a:buNone/>
            </a:pPr>
            <a:r>
              <a:rPr/>
              <a:t>Lévy, Pierre. 2023. “Semantic Computing with IEML.” </a:t>
            </a:r>
            <a:r>
              <a:rPr i="1"/>
              <a:t>Collective Intelligence</a:t>
            </a:r>
            <a:r>
              <a:rPr/>
              <a:t> 2 (4): 26339137231207634. </a:t>
            </a:r>
            <a:r>
              <a:rPr>
                <a:hlinkClick r:id="rId2"/>
              </a:rPr>
              <a:t>https://doi.org/10.1177/26339137231207634</a:t>
            </a:r>
            <a:r>
              <a:rPr/>
              <a:t>.</a:t>
            </a:r>
          </a:p>
          <a:p>
            <a:pPr lvl="0" indent="0" marL="0">
              <a:buNone/>
            </a:pPr>
            <a:r>
              <a:rPr/>
              <a:t>Martin, Kim, Brian Greenspan, and Anabel Quan-Haase. 2017. “STAK – Serendipitous Tool for Augmenting Knowledge: A Conceptual Tool for Bridging Digital and Physical Resources.” </a:t>
            </a:r>
            <a:r>
              <a:rPr i="1"/>
              <a:t>Digital Studies / Le Champ Numérique</a:t>
            </a:r>
            <a:r>
              <a:rPr/>
              <a:t> 6 (1). </a:t>
            </a:r>
            <a:r>
              <a:rPr>
                <a:hlinkClick r:id="rId3"/>
              </a:rPr>
              <a:t>https://doi.org/10.16995/dscn.265</a:t>
            </a:r>
            <a:r>
              <a:rPr/>
              <a:t>.</a:t>
            </a:r>
          </a:p>
          <a:p>
            <a:pPr lvl="0" indent="0" marL="0">
              <a:buNone/>
            </a:pPr>
            <a:r>
              <a:rPr/>
              <a:t>Merton, R. K. 1968. “</a:t>
            </a:r>
            <a:r>
              <a:rPr>
                <a:hlinkClick r:id="rId4"/>
              </a:rPr>
              <a:t>The Matthew Effect in Science. The Reward and Communication Systems of Science Are Considered</a:t>
            </a:r>
            <a:r>
              <a:rPr/>
              <a:t>.” </a:t>
            </a:r>
            <a:r>
              <a:rPr i="1"/>
              <a:t>Science (New York, N.Y.)</a:t>
            </a:r>
            <a:r>
              <a:rPr/>
              <a:t> 159 (3810): 56–63.</a:t>
            </a:r>
          </a:p>
          <a:p>
            <a:pPr lvl="0" indent="0" marL="0">
              <a:buNone/>
            </a:pPr>
            <a:r>
              <a:rPr/>
              <a:t>Narechania, Arpit, Alireza Karduni, Ryan Wesslen, and Emily Wall. 2022. “VITALITY: Promoting Serendipitous Discovery of Academic Literature with Transformers &amp; Visual Analytics.” </a:t>
            </a:r>
            <a:r>
              <a:rPr i="1"/>
              <a:t>IEEE Transactions on Visualization and Computer Graphics</a:t>
            </a:r>
            <a:r>
              <a:rPr/>
              <a:t> 28 (1): 486–96. </a:t>
            </a:r>
            <a:r>
              <a:rPr>
                <a:hlinkClick r:id="rId5"/>
              </a:rPr>
              <a:t>https://doi.org/10.1109/TVCG.2021.3114820</a:t>
            </a:r>
            <a:r>
              <a:rPr/>
              <a:t>.</a:t>
            </a:r>
          </a:p>
          <a:p>
            <a:pPr lvl="0" indent="0" marL="0">
              <a:buNone/>
            </a:pPr>
            <a:r>
              <a:rPr/>
              <a:t>Nielsen, Mathias Wullum, and Jens Peter Andersen. 2021. “Global Citation Inequality Is on the Rise.” </a:t>
            </a:r>
            <a:r>
              <a:rPr i="1"/>
              <a:t>Proceedings of the National Academy of Sciences</a:t>
            </a:r>
            <a:r>
              <a:rPr/>
              <a:t> 118 (7): e2012208118. </a:t>
            </a:r>
            <a:r>
              <a:rPr>
                <a:hlinkClick r:id="rId6"/>
              </a:rPr>
              <a:t>https://doi.org/10.1073/pnas.2012208118</a:t>
            </a:r>
            <a:r>
              <a:rPr/>
              <a:t>.</a:t>
            </a:r>
          </a:p>
          <a:p>
            <a:pPr lvl="0" indent="0" marL="0">
              <a:buNone/>
            </a:pPr>
            <a:r>
              <a:rPr/>
              <a:t>Pariser, Eli. 2011. “The Filter Bubble: What the Internet Is Hiding from You.” In.</a:t>
            </a:r>
          </a:p>
          <a:p>
            <a:pPr lvl="0" indent="0" marL="0">
              <a:buNone/>
            </a:pPr>
            <a:r>
              <a:rPr/>
              <a:t>Patterson, Brandon, Carlos Flores, Nick Hauschild, and Jared Branch. 2025. “Which AI Tools Work Best for Research? Using Librarian and Student Perspectives to Inform a Rating Rubric.” </a:t>
            </a:r>
            <a:r>
              <a:rPr i="1"/>
              <a:t>Journal of Electronic Resources in Medical Libraries</a:t>
            </a:r>
            <a:r>
              <a:rPr/>
              <a:t> 22 (3): 133–38. </a:t>
            </a:r>
            <a:r>
              <a:rPr>
                <a:hlinkClick r:id="rId7"/>
              </a:rPr>
              <a:t>https://doi.org/10.1080/15424065.2025.2546052</a:t>
            </a:r>
            <a:r>
              <a:rPr/>
              <a:t>.</a:t>
            </a:r>
          </a:p>
          <a:p>
            <a:pPr lvl="0" indent="0" marL="0">
              <a:buNone/>
            </a:pPr>
            <a:r>
              <a:rPr/>
              <a:t>Portenoy, Jason, Marissa Radensky, Jevin D West, Eric Horvitz, Daniel S Weld, and Tom Hope. 2022. “Bursting Scientific Filter Bubbles: Boosting Innovation via Novel Author Discovery.” </a:t>
            </a:r>
            <a:r>
              <a:rPr i="1"/>
              <a:t>CHI Conference on Human Factors in Computing Systems</a:t>
            </a:r>
            <a:r>
              <a:rPr/>
              <a:t>, April, 1–13. </a:t>
            </a:r>
            <a:r>
              <a:rPr>
                <a:hlinkClick r:id="rId8"/>
              </a:rPr>
              <a:t>https://doi.org/10.1145/3491102.3501905</a:t>
            </a:r>
            <a:r>
              <a:rPr/>
              <a:t>.</a:t>
            </a:r>
          </a:p>
          <a:p>
            <a:pPr lvl="0" indent="0" marL="0">
              <a:buNone/>
            </a:pPr>
            <a:r>
              <a:rPr/>
              <a:t>Schneider, Alexia. 2026. “An Imperfect AI to Uphold Human Agency : Vindicating the ‘Yes but’ of This World.” Short {{Talk}}. Montréal.</a:t>
            </a:r>
          </a:p>
          <a:p>
            <a:pPr lvl="0" indent="0" marL="0">
              <a:buNone/>
            </a:pPr>
            <a:r>
              <a:rPr/>
              <a:t>Tay, Aaron. 2025. “The Reproducibility and Interpretability of Academic AI Search Engines Like Primo Research Assistant, Web of Science Research Assistant, Scopus AI and More.” Blog. </a:t>
            </a:r>
            <a:r>
              <a:rPr i="1"/>
              <a:t>Aaron Tay’s Musings about Librarianship</a:t>
            </a:r>
            <a:r>
              <a:rPr/>
              <a:t>.</a:t>
            </a:r>
          </a:p>
          <a:p>
            <a:pPr lvl="0" indent="0" marL="0">
              <a:buNone/>
            </a:pPr>
            <a:r>
              <a:rPr/>
              <a:t>Underwood, Ted. 2014. “Theorizing Research Practices We Forgot to Theorize Twenty Years Ago.” </a:t>
            </a:r>
            <a:r>
              <a:rPr i="1"/>
              <a:t>Representations</a:t>
            </a:r>
            <a:r>
              <a:rPr/>
              <a:t> 127 (1): 64–72. </a:t>
            </a:r>
            <a:r>
              <a:rPr>
                <a:hlinkClick r:id="rId9"/>
              </a:rPr>
              <a:t>https://doi.org/10.1525/rep.2014.127.1.64</a:t>
            </a:r>
            <a:r>
              <a:rPr/>
              <a:t>.</a:t>
            </a:r>
          </a:p>
          <a:p>
            <a:pPr lvl="0" indent="0" marL="0">
              <a:buNone/>
            </a:pPr>
            <a:r>
              <a:rPr/>
              <a:t>Varga, Attila. 2022. “The Narrowing of Literature Use and the Restricted Mobility of Papers in the Sciences.” </a:t>
            </a:r>
            <a:r>
              <a:rPr i="1"/>
              <a:t>Proceedings of the National Academy of Sciences</a:t>
            </a:r>
            <a:r>
              <a:rPr/>
              <a:t> 119 (17): e2117488119. </a:t>
            </a:r>
            <a:r>
              <a:rPr>
                <a:hlinkClick r:id="rId10"/>
              </a:rPr>
              <a:t>https://doi.org/10.1073/pnas.2117488119</a:t>
            </a:r>
            <a: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Screenshots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1_ouverturePanel.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First step: from seed article, the panel opens and retrieves the article keywords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2_selectionConcept.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User can select a keyword already translated in IEML (in blue), displaying the grid containing concepts defining the keyword</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3_propositionTraduction2.png" id="0" name="Picture 1"/>
          <p:cNvPicPr>
            <a:picLocks noGrp="1" noChangeAspect="1"/>
          </p:cNvPicPr>
          <p:nvPr/>
        </p:nvPicPr>
        <p:blipFill>
          <a:blip r:embed="rId2"/>
          <a:stretch>
            <a:fillRect/>
          </a:stretch>
        </p:blipFill>
        <p:spPr bwMode="auto">
          <a:xfrm>
            <a:off x="1371600" y="1193800"/>
            <a:ext cx="638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If the keyword hasn’t been translated a LLM translation is suggested (from the IEML dictionnary) and user can modify it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4_validationTraduction.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After validation of the translation, the translation is added to the IEML database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5_selectionLogs.png" id="0" name="Picture 1"/>
          <p:cNvPicPr>
            <a:picLocks noGrp="1" noChangeAspect="1"/>
          </p:cNvPicPr>
          <p:nvPr/>
        </p:nvPicPr>
        <p:blipFill>
          <a:blip r:embed="rId2"/>
          <a:stretch>
            <a:fillRect/>
          </a:stretch>
        </p:blipFill>
        <p:spPr bwMode="auto">
          <a:xfrm>
            <a:off x="1219200" y="1193800"/>
            <a:ext cx="6705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User can build a query from selected concepts and keywords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g/etape6_affichageArticles.png" id="0" name="Picture 1"/>
          <p:cNvPicPr>
            <a:picLocks noGrp="1" noChangeAspect="1"/>
          </p:cNvPicPr>
          <p:nvPr/>
        </p:nvPicPr>
        <p:blipFill>
          <a:blip r:embed="rId2"/>
          <a:stretch>
            <a:fillRect/>
          </a:stretch>
        </p:blipFill>
        <p:spPr bwMode="auto">
          <a:xfrm>
            <a:off x="1219200" y="1193800"/>
            <a:ext cx="6718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The query returns 2 lists of articles, one from the keywords selected and one from a query augmentation of those keywords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Humanistica - recherche documentaire assistée par IA et systèmes de recommandation</dc:title>
  <dc:creator>Alexia Schneider; Marcello Vitali-Rosati; Pierre Levy</dc:creator>
  <cp:keywords/>
  <dcterms:created xsi:type="dcterms:W3CDTF">2026-09-24T15:28:15Z</dcterms:created>
  <dcterms:modified xsi:type="dcterms:W3CDTF">2026-09-24T15:28:15Z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../phd_udem.bib</vt:lpwstr>
  </property>
  <property fmtid="{D5CDD505-2E9C-101B-9397-08002B2CF9AE}" pid="5" name="by-author">
    <vt:lpwstr/>
  </property>
  <property fmtid="{D5CDD505-2E9C-101B-9397-08002B2CF9AE}" pid="6" name="colorlinks">
    <vt:lpwstr>True</vt:lpwstr>
  </property>
  <property fmtid="{D5CDD505-2E9C-101B-9397-08002B2CF9AE}" pid="7" name="date">
    <vt:lpwstr>2026-05-22</vt:lpwstr>
  </property>
  <property fmtid="{D5CDD505-2E9C-101B-9397-08002B2CF9AE}" pid="8" name="fig-cap-location">
    <vt:lpwstr>bottom</vt:lpwstr>
  </property>
  <property fmtid="{D5CDD505-2E9C-101B-9397-08002B2CF9AE}" pid="9" name="footer">
    <vt:lpwstr>Alexia Schneider - 2026</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ink-citations">
    <vt:lpwstr>True</vt:lpwstr>
  </property>
  <property fmtid="{D5CDD505-2E9C-101B-9397-08002B2CF9AE}" pid="15" name="logo">
    <vt:lpwstr>img/stickerAvecTexte.png</vt:lpwstr>
  </property>
  <property fmtid="{D5CDD505-2E9C-101B-9397-08002B2CF9AE}" pid="16" name="resources">
    <vt:lpwstr/>
  </property>
  <property fmtid="{D5CDD505-2E9C-101B-9397-08002B2CF9AE}" pid="17" name="scrollable">
    <vt:lpwstr>True</vt:lpwstr>
  </property>
  <property fmtid="{D5CDD505-2E9C-101B-9397-08002B2CF9AE}" pid="18" name="slide-number">
    <vt:lpwstr>True</vt:lpwstr>
  </property>
  <property fmtid="{D5CDD505-2E9C-101B-9397-08002B2CF9AE}" pid="19" name="smaller">
    <vt:lpwstr>True</vt:lpwstr>
  </property>
  <property fmtid="{D5CDD505-2E9C-101B-9397-08002B2CF9AE}" pid="20" name="toc-title">
    <vt:lpwstr>Table of contents</vt:lpwstr>
  </property>
</Properties>
</file>